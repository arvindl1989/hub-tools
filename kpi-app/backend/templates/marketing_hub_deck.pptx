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3050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Hub — monthly sharing for June 2026. Welcome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month: KPIs, request flow, stories, feedback and what's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1,120 tickets total, 1,001 resolved, 61 in pipeline, 183 feedbacks. Feedback rating averaging 4.95 out of 5. May resolved: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82 tickets in, 95 out — data 28 May to 30 June. EU drove most inflow; Website Content Management is the bulk of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APM LIO Orphans journey delivered; Nordics 24/7 upsell learning; extended WCM support for GCN Taiwan.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stakeholder feedback highlighting Akshaya and the Digital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deliverables by region — Europe, APM, AME and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Selected feedback highlights and feedback volume by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Recent updates and the way forward, including the Hub workshop on 23 July.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F6BA58-8CD9-4EF5-4764-2D9EA872A8C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69688" y="63500"/>
            <a:ext cx="687387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KONE 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59845"/>
          <a:stretch/>
        </p:blipFill>
        <p:spPr>
          <a:xfrm>
            <a:off x="3600450" y="552450"/>
            <a:ext cx="2552700" cy="2819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4024" r="34024"/>
          <a:stretch/>
        </p:blipFill>
        <p:spPr>
          <a:xfrm>
            <a:off x="6362700" y="266700"/>
            <a:ext cx="2552700" cy="3543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316"/>
          <a:stretch/>
        </p:blipFill>
        <p:spPr>
          <a:xfrm>
            <a:off x="9124950" y="438150"/>
            <a:ext cx="2638425" cy="31051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191000"/>
            <a:ext cx="85915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8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KONE DIGITAL · MARKETING HUB</a:t>
            </a:r>
            <a:endParaRPr lang="en-US" sz="975" dirty="0"/>
          </a:p>
        </p:txBody>
      </p:sp>
      <p:sp>
        <p:nvSpPr>
          <p:cNvPr id="7" name="Text 1"/>
          <p:cNvSpPr/>
          <p:nvPr/>
        </p:nvSpPr>
        <p:spPr>
          <a:xfrm>
            <a:off x="428625" y="4567238"/>
            <a:ext cx="859155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524"/>
              </a:lnSpc>
              <a:buNone/>
            </a:pPr>
            <a:r>
              <a:rPr lang="en-US" sz="5100" kern="0" spc="-1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sharing</a:t>
            </a:r>
            <a:endParaRPr lang="en-US" sz="5100" dirty="0"/>
          </a:p>
        </p:txBody>
      </p:sp>
      <p:sp>
        <p:nvSpPr>
          <p:cNvPr id="8" name="Text 2"/>
          <p:cNvSpPr/>
          <p:nvPr/>
        </p:nvSpPr>
        <p:spPr>
          <a:xfrm>
            <a:off x="428625" y="5367338"/>
            <a:ext cx="859155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{{deck_month_year}}</a:t>
            </a:r>
            <a:endParaRPr lang="en-US" sz="195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781776"/>
            <a:ext cx="7962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{{deck_month_year_caps}} · MONTHLY SHARING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3172301"/>
            <a:ext cx="7962900" cy="618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4350" kern="0" spc="-8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 &amp; updates</a:t>
            </a:r>
            <a:endParaRPr lang="en-US" sz="4350" dirty="0"/>
          </a:p>
        </p:txBody>
      </p:sp>
      <p:sp>
        <p:nvSpPr>
          <p:cNvPr id="5" name="Shape 2"/>
          <p:cNvSpPr/>
          <p:nvPr/>
        </p:nvSpPr>
        <p:spPr>
          <a:xfrm>
            <a:off x="428625" y="4038124"/>
            <a:ext cx="609600" cy="381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33359" y="6272213"/>
            <a:ext cx="196691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60502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KONE Information" panose="020B0603040000020003" pitchFamily="34" charset="-79"/>
              </a:rPr>
              <a:t>{{kpi_total_tickets}}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428625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TOTAL TICKETS</a:t>
            </a:r>
            <a:endParaRPr lang="en-US" sz="975" dirty="0"/>
          </a:p>
        </p:txBody>
      </p:sp>
      <p:sp>
        <p:nvSpPr>
          <p:cNvPr id="6" name="Text 3"/>
          <p:cNvSpPr/>
          <p:nvPr/>
        </p:nvSpPr>
        <p:spPr>
          <a:xfrm>
            <a:off x="3348038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{{kpi_resolved}}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3348038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RESOLVED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6267450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{{kpi_in_pipeline}}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6267450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IN PIPELINE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9186863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{{kpi_feedbacks}}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9186863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428625" y="3543300"/>
            <a:ext cx="1133475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8625" y="3905250"/>
            <a:ext cx="69151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RATING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428625" y="4307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1647825" y="4348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647825" y="4348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257925" y="4300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{{kpi_overall}}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28625" y="4688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1647825" y="4729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1647825" y="4729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257925" y="4681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{{kpi_quality}}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8625" y="5069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Timeliness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57925" y="5062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{{kpi_timeliness}}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28625" y="5450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</a:t>
            </a:r>
            <a:endParaRPr lang="en-US" sz="1125" dirty="0"/>
          </a:p>
        </p:txBody>
      </p:sp>
      <p:sp>
        <p:nvSpPr>
          <p:cNvPr id="27" name="Shape 24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257925" y="5443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{{kpi_interaction}}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24750" y="3848100"/>
            <a:ext cx="4191000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215"/>
              </a:lnSpc>
              <a:buNone/>
            </a:pPr>
            <a:r>
              <a:rPr lang="en-US" sz="7350" kern="0" spc="-220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{{kpi_feedback_rating}}/ 5</a:t>
            </a:r>
            <a:endParaRPr lang="en-US" sz="7350" dirty="0"/>
          </a:p>
        </p:txBody>
      </p:sp>
      <p:sp>
        <p:nvSpPr>
          <p:cNvPr id="31" name="Text 28"/>
          <p:cNvSpPr/>
          <p:nvPr/>
        </p:nvSpPr>
        <p:spPr>
          <a:xfrm>
            <a:off x="7524750" y="4933950"/>
            <a:ext cx="41910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AVERAGE RATING</a:t>
            </a:r>
            <a:endParaRPr lang="en-US" sz="975" dirty="0"/>
          </a:p>
        </p:txBody>
      </p:sp>
      <p:sp>
        <p:nvSpPr>
          <p:cNvPr id="32" name="Text 29"/>
          <p:cNvSpPr/>
          <p:nvPr/>
        </p:nvSpPr>
        <p:spPr>
          <a:xfrm>
            <a:off x="7524750" y="5176838"/>
            <a:ext cx="41910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{{kpi_feedbacks}} feedbacks in {{deck_month_name}}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28625" y="6272213"/>
            <a:ext cx="1653219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30722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overview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428750"/>
            <a:ext cx="365704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reflecting data from {{period_from_fmt}} to {{period_to_fmt}}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28625" y="2057400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{{inflow_total}}</a:t>
            </a:r>
            <a:endParaRPr lang="en-US" sz="6150" dirty="0"/>
          </a:p>
        </p:txBody>
      </p:sp>
      <p:sp>
        <p:nvSpPr>
          <p:cNvPr id="6" name="Text 3"/>
          <p:cNvSpPr/>
          <p:nvPr/>
        </p:nvSpPr>
        <p:spPr>
          <a:xfrm>
            <a:off x="428625" y="2952750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428625" y="3519488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{{outflow_total}}</a:t>
            </a:r>
            <a:endParaRPr lang="en-US" sz="6150" dirty="0"/>
          </a:p>
        </p:txBody>
      </p:sp>
      <p:sp>
        <p:nvSpPr>
          <p:cNvPr id="8" name="Text 5"/>
          <p:cNvSpPr/>
          <p:nvPr/>
        </p:nvSpPr>
        <p:spPr>
          <a:xfrm>
            <a:off x="428625" y="4414838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OUTFLOW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3733800" y="2057400"/>
            <a:ext cx="34575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 BY AREA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733800" y="24384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72250" y="24384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{{inflow_area_eu}}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733800" y="27813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43400" y="27860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343400" y="2786063"/>
            <a:ext cx="821531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72250" y="27813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{{inflow_area_apm}}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733800" y="31242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289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343400" y="3128963"/>
            <a:ext cx="410766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572250" y="31242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{{inflow_area_global}}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733800" y="34671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4718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343400" y="3471863"/>
            <a:ext cx="273844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72250" y="34671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{{inflow_area_ame}}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733800" y="38100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GCN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43400" y="38147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343400" y="3814763"/>
            <a:ext cx="45958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72250" y="38100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{{inflow_area_gcn}}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448550" y="2068830"/>
            <a:ext cx="77902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BY WORK TYPE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0558224" y="2095500"/>
            <a:ext cx="95250" cy="9525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710624" y="2065020"/>
            <a:ext cx="404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Inflow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11191280" y="2095500"/>
            <a:ext cx="95250" cy="95250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343680" y="2065020"/>
            <a:ext cx="495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Outflow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448550" y="24307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 content management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48550" y="26760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7448550" y="2676049"/>
            <a:ext cx="3497580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96675" y="26498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{{wt_wcm_inflow}}</a:t>
            </a:r>
            <a:endParaRPr lang="en-US" sz="825" dirty="0"/>
          </a:p>
        </p:txBody>
      </p:sp>
      <p:sp>
        <p:nvSpPr>
          <p:cNvPr id="39" name="Shape 36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11496675" y="28451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{{wt_wcm_outflow}}</a:t>
            </a:r>
            <a:endParaRPr lang="en-US" sz="825" dirty="0"/>
          </a:p>
        </p:txBody>
      </p:sp>
      <p:sp>
        <p:nvSpPr>
          <p:cNvPr id="42" name="Text 39"/>
          <p:cNvSpPr/>
          <p:nvPr/>
        </p:nvSpPr>
        <p:spPr>
          <a:xfrm>
            <a:off x="7448550" y="312610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production — graphic design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448550" y="337137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448550" y="3371374"/>
            <a:ext cx="676037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11496675" y="334518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{{wt_cpgd_inflow}}</a:t>
            </a:r>
            <a:endParaRPr lang="en-US" sz="825" dirty="0"/>
          </a:p>
        </p:txBody>
      </p:sp>
      <p:sp>
        <p:nvSpPr>
          <p:cNvPr id="46" name="Shape 43"/>
          <p:cNvSpPr/>
          <p:nvPr/>
        </p:nvSpPr>
        <p:spPr>
          <a:xfrm>
            <a:off x="7448550" y="356663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7448550" y="3566636"/>
            <a:ext cx="91892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11496675" y="354044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{{wt_cpgd_outflow}}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7448550" y="382143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— local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7448550" y="406669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7448550" y="4066699"/>
            <a:ext cx="489823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11496675" y="404050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{{wt_email_inflow}}</a:t>
            </a:r>
            <a:endParaRPr lang="en-US" sz="825" dirty="0"/>
          </a:p>
        </p:txBody>
      </p:sp>
      <p:sp>
        <p:nvSpPr>
          <p:cNvPr id="53" name="Shape 50"/>
          <p:cNvSpPr/>
          <p:nvPr/>
        </p:nvSpPr>
        <p:spPr>
          <a:xfrm>
            <a:off x="7448550" y="426196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7448550" y="4261961"/>
            <a:ext cx="246936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11496675" y="423576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{{wt_email_outflow}}</a:t>
            </a:r>
            <a:endParaRPr lang="en-US" sz="825" dirty="0"/>
          </a:p>
        </p:txBody>
      </p:sp>
      <p:sp>
        <p:nvSpPr>
          <p:cNvPr id="56" name="Text 53"/>
          <p:cNvSpPr/>
          <p:nvPr/>
        </p:nvSpPr>
        <p:spPr>
          <a:xfrm>
            <a:off x="7448550" y="451675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 creation — global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48550" y="476202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7448550" y="4762024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1496675" y="473583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{{wt_dcg_inflow}}</a:t>
            </a:r>
            <a:endParaRPr lang="en-US" sz="825" dirty="0"/>
          </a:p>
        </p:txBody>
      </p:sp>
      <p:sp>
        <p:nvSpPr>
          <p:cNvPr id="60" name="Shape 57"/>
          <p:cNvSpPr/>
          <p:nvPr/>
        </p:nvSpPr>
        <p:spPr>
          <a:xfrm>
            <a:off x="7448550" y="495728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7448550" y="4957286"/>
            <a:ext cx="489823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/>
          <p:nvPr/>
        </p:nvSpPr>
        <p:spPr>
          <a:xfrm>
            <a:off x="11496675" y="493109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{{wt_dcg_outflow}}</a:t>
            </a:r>
            <a:endParaRPr lang="en-US" sz="825" dirty="0"/>
          </a:p>
        </p:txBody>
      </p:sp>
      <p:sp>
        <p:nvSpPr>
          <p:cNvPr id="63" name="Text 60"/>
          <p:cNvSpPr/>
          <p:nvPr/>
        </p:nvSpPr>
        <p:spPr>
          <a:xfrm>
            <a:off x="7448550" y="52120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 — activations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7448550" y="54573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7448550" y="5457349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/>
          <p:nvPr/>
        </p:nvSpPr>
        <p:spPr>
          <a:xfrm>
            <a:off x="11496675" y="54311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{{wt_ra_inflow}}</a:t>
            </a:r>
            <a:endParaRPr lang="en-US" sz="825" dirty="0"/>
          </a:p>
        </p:txBody>
      </p:sp>
      <p:sp>
        <p:nvSpPr>
          <p:cNvPr id="67" name="Shape 64"/>
          <p:cNvSpPr/>
          <p:nvPr/>
        </p:nvSpPr>
        <p:spPr>
          <a:xfrm>
            <a:off x="7448550" y="56526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7448550" y="5652611"/>
            <a:ext cx="12144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11496675" y="56264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{{wt_ra_outflow}}</a:t>
            </a:r>
            <a:endParaRPr lang="en-US" sz="825" dirty="0"/>
          </a:p>
        </p:txBody>
      </p:sp>
      <p:sp>
        <p:nvSpPr>
          <p:cNvPr id="70" name="Text 67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1" name="Text 68"/>
          <p:cNvSpPr/>
          <p:nvPr/>
        </p:nvSpPr>
        <p:spPr>
          <a:xfrm>
            <a:off x="11629430" y="6272213"/>
            <a:ext cx="20062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04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18312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01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4286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581275"/>
            <a:ext cx="3551492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{{story_1_title}}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28625" y="3148013"/>
            <a:ext cx="3551492" cy="1108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{{story_1_body}}</a:t>
            </a:r>
            <a:endParaRPr lang="en-US" sz="1088" dirty="0"/>
          </a:p>
        </p:txBody>
      </p:sp>
      <p:sp>
        <p:nvSpPr>
          <p:cNvPr id="8" name="Text 5"/>
          <p:cNvSpPr/>
          <p:nvPr/>
        </p:nvSpPr>
        <p:spPr>
          <a:xfrm>
            <a:off x="437197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437197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37197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{{story_2_title}}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71975" y="2921794"/>
            <a:ext cx="3551492" cy="153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{{story_2_body}}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83153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3153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1532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{{story_3_title}}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15325" y="2921794"/>
            <a:ext cx="3551492" cy="4662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{{story_3_body}}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05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5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952500"/>
            <a:ext cx="31432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FFFFFF">
                    <a:alpha val="75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STORIES · IN THEIR WORDS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366838"/>
            <a:ext cx="314325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57819"/>
              </a:lnSpc>
              <a:buNone/>
            </a:pPr>
            <a:r>
              <a:rPr lang="en-US" sz="11250" dirty="0">
                <a:solidFill>
                  <a:srgbClr val="FFFFFF">
                    <a:alpha val="28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3810000" y="990600"/>
            <a:ext cx="819197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650"/>
              </a:lnSpc>
              <a:buNone/>
            </a:pPr>
            <a:r>
              <a:rPr lang="en-US" sz="2475" kern="0" spc="-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1]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3810000" y="2005013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2]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10000" y="2888337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3]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10000" y="3771662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4]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810000" y="6257925"/>
            <a:ext cx="273187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FFFFFF">
                    <a:alpha val="8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FROM A KONE MARKETING STAKEHOLDER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FFFFFF">
                    <a:alpha val="7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06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227139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requests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286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EUROPE</a:t>
            </a:r>
            <a:endParaRPr lang="en-US" sz="975" dirty="0"/>
          </a:p>
        </p:txBody>
      </p:sp>
      <p:sp>
        <p:nvSpPr>
          <p:cNvPr id="6" name="Shape 3"/>
          <p:cNvSpPr/>
          <p:nvPr/>
        </p:nvSpPr>
        <p:spPr>
          <a:xfrm>
            <a:off x="4286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0550" y="2189798"/>
            <a:ext cx="2249805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{{key_request_europe_1}}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4286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0550" y="2659618"/>
            <a:ext cx="2292430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{{key_request_europe_2}}</a:t>
            </a:r>
            <a:endParaRPr lang="en-US" sz="1013" dirty="0"/>
          </a:p>
        </p:txBody>
      </p:sp>
      <p:sp>
        <p:nvSpPr>
          <p:cNvPr id="10" name="Shape 7"/>
          <p:cNvSpPr/>
          <p:nvPr/>
        </p:nvSpPr>
        <p:spPr>
          <a:xfrm>
            <a:off x="428625" y="318849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0550" y="3129439"/>
            <a:ext cx="2302669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{{key_request_europe_3}}</a:t>
            </a:r>
            <a:endParaRPr lang="en-US" sz="1013" dirty="0"/>
          </a:p>
        </p:txBody>
      </p:sp>
      <p:sp>
        <p:nvSpPr>
          <p:cNvPr id="12" name="Shape 9"/>
          <p:cNvSpPr/>
          <p:nvPr/>
        </p:nvSpPr>
        <p:spPr>
          <a:xfrm>
            <a:off x="428625" y="365831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0550" y="3599259"/>
            <a:ext cx="24007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{{key_request_europe_4}}</a:t>
            </a:r>
            <a:endParaRPr lang="en-US" sz="1013" dirty="0"/>
          </a:p>
        </p:txBody>
      </p:sp>
      <p:sp>
        <p:nvSpPr>
          <p:cNvPr id="14" name="Shape 11"/>
          <p:cNvSpPr/>
          <p:nvPr/>
        </p:nvSpPr>
        <p:spPr>
          <a:xfrm>
            <a:off x="428625" y="3945612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0550" y="3886557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{{key_request_europe_5}}</a:t>
            </a:r>
            <a:endParaRPr lang="en-US" sz="1013" dirty="0"/>
          </a:p>
        </p:txBody>
      </p:sp>
      <p:sp>
        <p:nvSpPr>
          <p:cNvPr id="16" name="Shape 13"/>
          <p:cNvSpPr/>
          <p:nvPr/>
        </p:nvSpPr>
        <p:spPr>
          <a:xfrm>
            <a:off x="428625" y="44154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0550" y="4356378"/>
            <a:ext cx="2451021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{{key_request_europe_6}}</a:t>
            </a:r>
            <a:endParaRPr lang="en-US" sz="1013" dirty="0"/>
          </a:p>
        </p:txBody>
      </p:sp>
      <p:sp>
        <p:nvSpPr>
          <p:cNvPr id="18" name="Shape 15"/>
          <p:cNvSpPr/>
          <p:nvPr/>
        </p:nvSpPr>
        <p:spPr>
          <a:xfrm>
            <a:off x="33623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3623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APM</a:t>
            </a:r>
            <a:endParaRPr lang="en-US" sz="975" dirty="0"/>
          </a:p>
        </p:txBody>
      </p:sp>
      <p:sp>
        <p:nvSpPr>
          <p:cNvPr id="20" name="Shape 17"/>
          <p:cNvSpPr/>
          <p:nvPr/>
        </p:nvSpPr>
        <p:spPr>
          <a:xfrm>
            <a:off x="33623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24250" y="2189798"/>
            <a:ext cx="19176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{{key_request_apm_1}}</a:t>
            </a:r>
            <a:endParaRPr lang="en-US" sz="1013" dirty="0"/>
          </a:p>
        </p:txBody>
      </p:sp>
      <p:sp>
        <p:nvSpPr>
          <p:cNvPr id="22" name="Shape 19"/>
          <p:cNvSpPr/>
          <p:nvPr/>
        </p:nvSpPr>
        <p:spPr>
          <a:xfrm>
            <a:off x="33623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524250" y="2477095"/>
            <a:ext cx="25611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{{key_request_apm_2}}</a:t>
            </a:r>
            <a:endParaRPr lang="en-US" sz="1013" dirty="0"/>
          </a:p>
        </p:txBody>
      </p:sp>
      <p:sp>
        <p:nvSpPr>
          <p:cNvPr id="24" name="Shape 21"/>
          <p:cNvSpPr/>
          <p:nvPr/>
        </p:nvSpPr>
        <p:spPr>
          <a:xfrm>
            <a:off x="3362325" y="2823448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524250" y="2764393"/>
            <a:ext cx="173235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{{key_request_apm_3}}</a:t>
            </a:r>
            <a:endParaRPr lang="en-US" sz="1013" dirty="0"/>
          </a:p>
        </p:txBody>
      </p:sp>
      <p:sp>
        <p:nvSpPr>
          <p:cNvPr id="26" name="Shape 23"/>
          <p:cNvSpPr/>
          <p:nvPr/>
        </p:nvSpPr>
        <p:spPr>
          <a:xfrm>
            <a:off x="3362325" y="3110746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524250" y="3051691"/>
            <a:ext cx="2438281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{{key_request_apm_4}}</a:t>
            </a:r>
            <a:endParaRPr lang="en-US" sz="1013" dirty="0"/>
          </a:p>
        </p:txBody>
      </p:sp>
      <p:sp>
        <p:nvSpPr>
          <p:cNvPr id="28" name="Shape 25"/>
          <p:cNvSpPr/>
          <p:nvPr/>
        </p:nvSpPr>
        <p:spPr>
          <a:xfrm>
            <a:off x="3362325" y="3580567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3524250" y="3521512"/>
            <a:ext cx="23668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{{key_request_apm_5}}</a:t>
            </a:r>
            <a:endParaRPr lang="en-US" sz="1013" dirty="0"/>
          </a:p>
        </p:txBody>
      </p:sp>
      <p:sp>
        <p:nvSpPr>
          <p:cNvPr id="30" name="Shape 27"/>
          <p:cNvSpPr/>
          <p:nvPr/>
        </p:nvSpPr>
        <p:spPr>
          <a:xfrm>
            <a:off x="62960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2960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AME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62960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457950" y="2189798"/>
            <a:ext cx="17264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{{key_request_ame_1}}</a:t>
            </a:r>
            <a:endParaRPr lang="en-US" sz="1013" dirty="0"/>
          </a:p>
        </p:txBody>
      </p:sp>
      <p:sp>
        <p:nvSpPr>
          <p:cNvPr id="34" name="Shape 31"/>
          <p:cNvSpPr/>
          <p:nvPr/>
        </p:nvSpPr>
        <p:spPr>
          <a:xfrm>
            <a:off x="62960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457950" y="2477095"/>
            <a:ext cx="2228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{{key_request_ame_2}}</a:t>
            </a:r>
            <a:endParaRPr lang="en-US" sz="1013" dirty="0"/>
          </a:p>
        </p:txBody>
      </p:sp>
      <p:sp>
        <p:nvSpPr>
          <p:cNvPr id="36" name="Shape 33"/>
          <p:cNvSpPr/>
          <p:nvPr/>
        </p:nvSpPr>
        <p:spPr>
          <a:xfrm>
            <a:off x="6296025" y="2823448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457950" y="2764393"/>
            <a:ext cx="23916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{{key_request_ame_3}}</a:t>
            </a:r>
            <a:endParaRPr lang="en-US" sz="1013" dirty="0"/>
          </a:p>
        </p:txBody>
      </p:sp>
      <p:sp>
        <p:nvSpPr>
          <p:cNvPr id="38" name="Shape 35"/>
          <p:cNvSpPr/>
          <p:nvPr/>
        </p:nvSpPr>
        <p:spPr>
          <a:xfrm>
            <a:off x="6296025" y="3110746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457950" y="3051691"/>
            <a:ext cx="24336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{{key_request_ame_4}}</a:t>
            </a:r>
            <a:endParaRPr lang="en-US" sz="1013" dirty="0"/>
          </a:p>
        </p:txBody>
      </p:sp>
      <p:sp>
        <p:nvSpPr>
          <p:cNvPr id="40" name="Shape 37"/>
          <p:cNvSpPr/>
          <p:nvPr/>
        </p:nvSpPr>
        <p:spPr>
          <a:xfrm>
            <a:off x="6296025" y="339804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457950" y="3338989"/>
            <a:ext cx="24144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{{key_request_ame_5}}</a:t>
            </a:r>
            <a:endParaRPr lang="en-US" sz="1013" dirty="0"/>
          </a:p>
        </p:txBody>
      </p:sp>
      <p:sp>
        <p:nvSpPr>
          <p:cNvPr id="42" name="Shape 39"/>
          <p:cNvSpPr/>
          <p:nvPr/>
        </p:nvSpPr>
        <p:spPr>
          <a:xfrm>
            <a:off x="9229725" y="2014538"/>
            <a:ext cx="25336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9229725" y="1714500"/>
            <a:ext cx="26098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GLOBAL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92297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9391650" y="2189798"/>
            <a:ext cx="23187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{{key_request_global_1}}</a:t>
            </a:r>
            <a:endParaRPr lang="en-US" sz="1013" dirty="0"/>
          </a:p>
        </p:txBody>
      </p:sp>
      <p:sp>
        <p:nvSpPr>
          <p:cNvPr id="46" name="Shape 43"/>
          <p:cNvSpPr/>
          <p:nvPr/>
        </p:nvSpPr>
        <p:spPr>
          <a:xfrm>
            <a:off x="92297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9391650" y="2477095"/>
            <a:ext cx="2389227" cy="5555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{{key_request_global_2}}</a:t>
            </a:r>
            <a:endParaRPr lang="en-US" sz="1013" dirty="0"/>
          </a:p>
        </p:txBody>
      </p:sp>
      <p:sp>
        <p:nvSpPr>
          <p:cNvPr id="48" name="Text 45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11638598" y="6272213"/>
            <a:ext cx="1914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07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5065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highlights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1912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{{quote_akshayaar}}</a:t>
            </a:r>
            <a:endParaRPr lang="en-US" sz="1013" dirty="0"/>
          </a:p>
        </p:txBody>
      </p:sp>
      <p:sp>
        <p:nvSpPr>
          <p:cNvPr id="6" name="Text 3"/>
          <p:cNvSpPr/>
          <p:nvPr/>
        </p:nvSpPr>
        <p:spPr>
          <a:xfrm>
            <a:off x="61912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AKSHAYAA R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06717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25767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{{quote_ajith}}</a:t>
            </a:r>
            <a:endParaRPr lang="en-US" sz="1013" dirty="0"/>
          </a:p>
        </p:txBody>
      </p:sp>
      <p:sp>
        <p:nvSpPr>
          <p:cNvPr id="9" name="Text 6"/>
          <p:cNvSpPr/>
          <p:nvPr/>
        </p:nvSpPr>
        <p:spPr>
          <a:xfrm>
            <a:off x="425767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AJITH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862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912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{{quote_akshayap}}</a:t>
            </a:r>
            <a:endParaRPr lang="en-US" sz="1013" dirty="0"/>
          </a:p>
        </p:txBody>
      </p:sp>
      <p:sp>
        <p:nvSpPr>
          <p:cNvPr id="12" name="Text 9"/>
          <p:cNvSpPr/>
          <p:nvPr/>
        </p:nvSpPr>
        <p:spPr>
          <a:xfrm>
            <a:off x="61912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 P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06717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25767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{{quote_nitish}}</a:t>
            </a:r>
            <a:endParaRPr lang="en-US" sz="1013" dirty="0"/>
          </a:p>
        </p:txBody>
      </p:sp>
      <p:sp>
        <p:nvSpPr>
          <p:cNvPr id="15" name="Text 12"/>
          <p:cNvSpPr/>
          <p:nvPr/>
        </p:nvSpPr>
        <p:spPr>
          <a:xfrm>
            <a:off x="425767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NITISH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2862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19125" y="5086350"/>
            <a:ext cx="319830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{{quote_arvind}}</a:t>
            </a:r>
            <a:endParaRPr lang="en-US" sz="1013" dirty="0"/>
          </a:p>
        </p:txBody>
      </p:sp>
      <p:sp>
        <p:nvSpPr>
          <p:cNvPr id="18" name="Text 15"/>
          <p:cNvSpPr/>
          <p:nvPr/>
        </p:nvSpPr>
        <p:spPr>
          <a:xfrm>
            <a:off x="619125" y="5605463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ARVIND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6717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257675" y="5086350"/>
            <a:ext cx="3415665" cy="230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{{quote_ranjith}}</a:t>
            </a:r>
            <a:endParaRPr lang="en-US" sz="1013" dirty="0"/>
          </a:p>
        </p:txBody>
      </p:sp>
      <p:sp>
        <p:nvSpPr>
          <p:cNvPr id="21" name="Text 18"/>
          <p:cNvSpPr/>
          <p:nvPr/>
        </p:nvSpPr>
        <p:spPr>
          <a:xfrm>
            <a:off x="4257675" y="5412581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RANJITH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858125" y="1771650"/>
            <a:ext cx="42957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 BY TEAM MEMBER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858125" y="213360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{{lb_name_1}}</a:t>
            </a:r>
            <a:endParaRPr lang="en-US" sz="975" dirty="0"/>
          </a:p>
        </p:txBody>
      </p:sp>
      <p:sp>
        <p:nvSpPr>
          <p:cNvPr id="24" name="Shape 21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1477625" y="213360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{{lb_count_1}}</a:t>
            </a:r>
            <a:endParaRPr lang="en-US" sz="975" dirty="0"/>
          </a:p>
        </p:txBody>
      </p:sp>
      <p:sp>
        <p:nvSpPr>
          <p:cNvPr id="27" name="Text 24"/>
          <p:cNvSpPr/>
          <p:nvPr/>
        </p:nvSpPr>
        <p:spPr>
          <a:xfrm>
            <a:off x="7858125" y="244316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{{lb_name_2}}</a:t>
            </a:r>
            <a:endParaRPr lang="en-US" sz="975" dirty="0"/>
          </a:p>
        </p:txBody>
      </p:sp>
      <p:sp>
        <p:nvSpPr>
          <p:cNvPr id="28" name="Shape 25"/>
          <p:cNvSpPr/>
          <p:nvPr/>
        </p:nvSpPr>
        <p:spPr>
          <a:xfrm>
            <a:off x="8810625" y="246459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810625" y="2464594"/>
            <a:ext cx="251841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1477625" y="244316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{{lb_count_2}}</a:t>
            </a:r>
            <a:endParaRPr lang="en-US" sz="975" dirty="0"/>
          </a:p>
        </p:txBody>
      </p:sp>
      <p:sp>
        <p:nvSpPr>
          <p:cNvPr id="31" name="Text 28"/>
          <p:cNvSpPr/>
          <p:nvPr/>
        </p:nvSpPr>
        <p:spPr>
          <a:xfrm>
            <a:off x="7858125" y="2752725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{{lb_name_3}}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8810625" y="2774156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810625" y="2774156"/>
            <a:ext cx="1753434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477625" y="2752725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{{lb_count_3}}</a:t>
            </a:r>
            <a:endParaRPr lang="en-US" sz="975" dirty="0"/>
          </a:p>
        </p:txBody>
      </p:sp>
      <p:sp>
        <p:nvSpPr>
          <p:cNvPr id="35" name="Text 32"/>
          <p:cNvSpPr/>
          <p:nvPr/>
        </p:nvSpPr>
        <p:spPr>
          <a:xfrm>
            <a:off x="7858125" y="3062288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{{lb_name_4}}</a:t>
            </a:r>
            <a:endParaRPr lang="en-US" sz="975" dirty="0"/>
          </a:p>
        </p:txBody>
      </p:sp>
      <p:sp>
        <p:nvSpPr>
          <p:cNvPr id="36" name="Shape 33"/>
          <p:cNvSpPr/>
          <p:nvPr/>
        </p:nvSpPr>
        <p:spPr>
          <a:xfrm>
            <a:off x="8810625" y="3083719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8810625" y="3083719"/>
            <a:ext cx="1259205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77625" y="3062288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{{lb_count_4}}</a:t>
            </a:r>
            <a:endParaRPr lang="en-US" sz="975" dirty="0"/>
          </a:p>
        </p:txBody>
      </p:sp>
      <p:sp>
        <p:nvSpPr>
          <p:cNvPr id="39" name="Text 36"/>
          <p:cNvSpPr/>
          <p:nvPr/>
        </p:nvSpPr>
        <p:spPr>
          <a:xfrm>
            <a:off x="7858125" y="337185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{{lb_name_5}}</a:t>
            </a:r>
            <a:endParaRPr lang="en-US" sz="975" dirty="0"/>
          </a:p>
        </p:txBody>
      </p:sp>
      <p:sp>
        <p:nvSpPr>
          <p:cNvPr id="40" name="Shape 37"/>
          <p:cNvSpPr/>
          <p:nvPr/>
        </p:nvSpPr>
        <p:spPr>
          <a:xfrm>
            <a:off x="8810625" y="339328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810625" y="3393281"/>
            <a:ext cx="1096208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77625" y="337185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{{lb_count_5}}</a:t>
            </a:r>
            <a:endParaRPr lang="en-US" sz="975" dirty="0"/>
          </a:p>
        </p:txBody>
      </p:sp>
      <p:sp>
        <p:nvSpPr>
          <p:cNvPr id="43" name="Text 40"/>
          <p:cNvSpPr/>
          <p:nvPr/>
        </p:nvSpPr>
        <p:spPr>
          <a:xfrm>
            <a:off x="7858125" y="368141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{{lb_name_6}}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8810625" y="370284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8810625" y="3702844"/>
            <a:ext cx="328613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11477625" y="368141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{{lb_count_6}}</a:t>
            </a:r>
            <a:endParaRPr lang="en-US" sz="975" dirty="0"/>
          </a:p>
        </p:txBody>
      </p:sp>
      <p:sp>
        <p:nvSpPr>
          <p:cNvPr id="51" name="Text 4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52" name="Text 49"/>
          <p:cNvSpPr/>
          <p:nvPr/>
        </p:nvSpPr>
        <p:spPr>
          <a:xfrm>
            <a:off x="11630382" y="6272213"/>
            <a:ext cx="199668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08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0658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PWR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028700"/>
            <a:ext cx="408910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Updates &amp; way forward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2862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UPDATES</a:t>
            </a:r>
            <a:endParaRPr lang="en-US" sz="975" dirty="0"/>
          </a:p>
        </p:txBody>
      </p:sp>
      <p:sp>
        <p:nvSpPr>
          <p:cNvPr id="7" name="Shape 4"/>
          <p:cNvSpPr/>
          <p:nvPr/>
        </p:nvSpPr>
        <p:spPr>
          <a:xfrm>
            <a:off x="428625" y="261270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38175" y="2570797"/>
            <a:ext cx="189380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{{update_1}}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8625" y="296894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8175" y="2927033"/>
            <a:ext cx="231636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{{update_2}}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8625" y="332517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8175" y="3283268"/>
            <a:ext cx="276785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{{update_3}}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8625" y="368141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8175" y="3639503"/>
            <a:ext cx="2973516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{{update_4}}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8625" y="4037647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175" y="3995738"/>
            <a:ext cx="248626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{{update_5}}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8625" y="439388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8175" y="4351972"/>
            <a:ext cx="169056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{{update_6}}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2937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2937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WAY FORWARD</a:t>
            </a:r>
            <a:endParaRPr lang="en-US" sz="975" dirty="0"/>
          </a:p>
        </p:txBody>
      </p:sp>
      <p:sp>
        <p:nvSpPr>
          <p:cNvPr id="21" name="Shape 18"/>
          <p:cNvSpPr/>
          <p:nvPr/>
        </p:nvSpPr>
        <p:spPr>
          <a:xfrm>
            <a:off x="6429375" y="260318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638925" y="2570797"/>
            <a:ext cx="263124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{{way_forward_1}}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29375" y="295941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638925" y="2927033"/>
            <a:ext cx="1605915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{{way_forward_2}}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429375" y="331565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38925" y="3283268"/>
            <a:ext cx="188499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{{way_forward_3}}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29375" y="367188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925" y="3639503"/>
            <a:ext cx="1045607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{{way_forward_4}}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29375" y="4028122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638925" y="3995738"/>
            <a:ext cx="297609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{{way_forward_5}}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09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338388"/>
            <a:ext cx="942975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OVER TO YOU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2690813"/>
            <a:ext cx="942975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339"/>
              </a:lnSpc>
              <a:buNone/>
            </a:pPr>
            <a:r>
              <a:rPr lang="en-US" sz="11250" kern="0" spc="-33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428625" y="4205288"/>
            <a:ext cx="942975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16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&amp; discussion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48718" y="6272213"/>
            <a:ext cx="181332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10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61321"/>
          <a:stretch/>
        </p:blipFill>
        <p:spPr>
          <a:xfrm>
            <a:off x="3600450" y="381000"/>
            <a:ext cx="249555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5199" r="35199"/>
          <a:stretch/>
        </p:blipFill>
        <p:spPr>
          <a:xfrm>
            <a:off x="6362700" y="381000"/>
            <a:ext cx="2495550" cy="3733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824"/>
          <a:stretch/>
        </p:blipFill>
        <p:spPr>
          <a:xfrm>
            <a:off x="9124950" y="381000"/>
            <a:ext cx="2638425" cy="31432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486275"/>
            <a:ext cx="3269242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50"/>
              </a:lnSpc>
              <a:buNone/>
            </a:pPr>
            <a:r>
              <a:rPr lang="en-US" sz="4950" kern="0" spc="-12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4950" dirty="0"/>
          </a:p>
        </p:txBody>
      </p:sp>
      <p:sp>
        <p:nvSpPr>
          <p:cNvPr id="7" name="Text 1"/>
          <p:cNvSpPr/>
          <p:nvPr/>
        </p:nvSpPr>
        <p:spPr>
          <a:xfrm>
            <a:off x="447675" y="5476875"/>
            <a:ext cx="40308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Hub · Monthly sharing · {{deck_month_year}}</a:t>
            </a:r>
            <a:endParaRPr lang="en-US" sz="13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595ec8e-1e2e-428f-9506-de1cbd0c2835}" enabled="1" method="Standard" siteId="{2bb82c64-2eb1-43f7-8862-fdc1d2333b5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Widescreen</PresentationFormat>
  <Paragraphs>190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</vt:lpstr>
      <vt:lpstr>Inter</vt:lpstr>
      <vt:lpstr>Inter SemiBold</vt:lpstr>
      <vt:lpstr>KONE Information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L. Arvind</cp:lastModifiedBy>
  <cp:revision>2</cp:revision>
  <dcterms:created xsi:type="dcterms:W3CDTF">2026-07-29T04:27:16Z</dcterms:created>
  <dcterms:modified xsi:type="dcterms:W3CDTF">2026-07-29T04:29:59Z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Theme:3</vt:lpwstr>
  </property>
  <property fmtid="{D5CDD505-2E9C-101B-9397-08002B2CF9AE}" pid="3" name="ClassificationContentMarkingHeaderText">
    <vt:lpwstr>KONE Internal</vt:lpwstr>
  </property>
</Properties>
</file>