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3050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Marketing Hub — monthly sharing for June 2026. Welcome 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month: KPIs, request flow, stories, feedback and what's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1,120 tickets total, 1,001 resolved, 61 in pipeline, 183 feedbacks. Feedback rating averaging 4.95 out of 5. May resolved: 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82 tickets in, 95 out — data 28 May to 30 June. EU drove most inflow; Website Content Management is the bulk of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APM LIO Orphans journey delivered; Nordics 24/7 upsell learning; extended WCM support for GCN Taiwan.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Featured stakeholder feedback highlighting Akshaya and the Digital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deliverables by region — Europe, APM, AME and Global.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Selected feedback highlights and feedback volume by team 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Recent updates and the way forward, including the Hub workshop on 23 July.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and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F6BA58-8CD9-4EF5-4764-2D9EA872A8C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1469688" y="63500"/>
            <a:ext cx="687387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KONE 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28625"/>
            <a:ext cx="763072" cy="295275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rcRect r="59845"/>
          <a:stretch/>
        </p:blipFill>
        <p:spPr>
          <a:xfrm>
            <a:off x="3600450" y="552450"/>
            <a:ext cx="2552700" cy="28194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rcRect l="34024" r="34024"/>
          <a:stretch/>
        </p:blipFill>
        <p:spPr>
          <a:xfrm>
            <a:off x="6362700" y="266700"/>
            <a:ext cx="2552700" cy="3543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rcRect l="62316"/>
          <a:stretch/>
        </p:blipFill>
        <p:spPr>
          <a:xfrm>
            <a:off x="9124950" y="438150"/>
            <a:ext cx="2638425" cy="310515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428625" y="4191000"/>
            <a:ext cx="85915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8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KONE DIGITAL · MARKETING HUB</a:t>
            </a:r>
            <a:endParaRPr lang="en-US" sz="975" dirty="0"/>
          </a:p>
        </p:txBody>
      </p:sp>
      <p:sp>
        <p:nvSpPr>
          <p:cNvPr id="7" name="Text 1"/>
          <p:cNvSpPr/>
          <p:nvPr/>
        </p:nvSpPr>
        <p:spPr>
          <a:xfrm>
            <a:off x="428625" y="4567238"/>
            <a:ext cx="859155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524"/>
              </a:lnSpc>
              <a:buNone/>
            </a:pPr>
            <a:r>
              <a:rPr lang="en-US" sz="5100" kern="0" spc="-1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sharing</a:t>
            </a:r>
            <a:endParaRPr lang="en-US" sz="5100" dirty="0"/>
          </a:p>
        </p:txBody>
      </p:sp>
      <p:sp>
        <p:nvSpPr>
          <p:cNvPr id="8" name="Text 2"/>
          <p:cNvSpPr/>
          <p:nvPr/>
        </p:nvSpPr>
        <p:spPr>
          <a:xfrm>
            <a:off x="428625" y="5367338"/>
            <a:ext cx="859155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{{deck_month_year}}</a:t>
            </a:r>
            <a:endParaRPr lang="en-US" sz="195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1814" y="6105525"/>
            <a:ext cx="1061561" cy="36195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2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781776"/>
            <a:ext cx="79629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kern="0" spc="95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{{deck_month_year_caps}} · MONTHLY SHARING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28625" y="3172301"/>
            <a:ext cx="7962900" cy="6181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500"/>
              </a:lnSpc>
              <a:buNone/>
            </a:pPr>
            <a:r>
              <a:rPr lang="en-US" sz="4350" kern="0" spc="-8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 KPIs &amp; updates</a:t>
            </a:r>
            <a:endParaRPr lang="en-US" sz="4350" dirty="0"/>
          </a:p>
        </p:txBody>
      </p:sp>
      <p:sp>
        <p:nvSpPr>
          <p:cNvPr id="5" name="Shape 2"/>
          <p:cNvSpPr/>
          <p:nvPr/>
        </p:nvSpPr>
        <p:spPr>
          <a:xfrm>
            <a:off x="428625" y="4038124"/>
            <a:ext cx="609600" cy="381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7" name="Text 4"/>
          <p:cNvSpPr/>
          <p:nvPr/>
        </p:nvSpPr>
        <p:spPr>
          <a:xfrm>
            <a:off x="11633359" y="6272213"/>
            <a:ext cx="196691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02</a:t>
            </a:r>
            <a:endParaRPr lang="en-US" sz="8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1605022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Hub KPIs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428625" y="1866900"/>
            <a:ext cx="283416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2627"/>
              </a:lnSpc>
              <a:buNone/>
            </a:pPr>
            <a:r>
              <a:rPr lang="en-US" sz="5850" kern="0" spc="-175" dirty="0">
                <a:solidFill>
                  <a:srgbClr val="1450F5"/>
                </a:solidFill>
                <a:latin typeface="Inter" pitchFamily="34" charset="0"/>
                <a:ea typeface="Inter" pitchFamily="34" charset="-122"/>
                <a:cs typeface="KONE Information" panose="020B0603040000020003" pitchFamily="34" charset="-79"/>
              </a:rPr>
              <a:t>{{kpi_total_tickets}}</a:t>
            </a:r>
            <a:endParaRPr lang="en-US" sz="5850" dirty="0"/>
          </a:p>
        </p:txBody>
      </p:sp>
      <p:sp>
        <p:nvSpPr>
          <p:cNvPr id="5" name="Text 2"/>
          <p:cNvSpPr/>
          <p:nvPr/>
        </p:nvSpPr>
        <p:spPr>
          <a:xfrm>
            <a:off x="428625" y="2743200"/>
            <a:ext cx="2834164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TOTAL TICKETS</a:t>
            </a:r>
            <a:endParaRPr lang="en-US" sz="975" dirty="0"/>
          </a:p>
        </p:txBody>
      </p:sp>
      <p:sp>
        <p:nvSpPr>
          <p:cNvPr id="6" name="Text 3"/>
          <p:cNvSpPr/>
          <p:nvPr/>
        </p:nvSpPr>
        <p:spPr>
          <a:xfrm>
            <a:off x="3348038" y="1866900"/>
            <a:ext cx="283416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2627"/>
              </a:lnSpc>
              <a:buNone/>
            </a:pPr>
            <a:r>
              <a:rPr lang="en-US" sz="5850" kern="0" spc="-175" dirty="0">
                <a:solidFill>
                  <a:srgbClr val="145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{{kpi_resolved}}</a:t>
            </a:r>
            <a:endParaRPr lang="en-US" sz="5850" dirty="0"/>
          </a:p>
        </p:txBody>
      </p:sp>
      <p:sp>
        <p:nvSpPr>
          <p:cNvPr id="7" name="Text 4"/>
          <p:cNvSpPr/>
          <p:nvPr/>
        </p:nvSpPr>
        <p:spPr>
          <a:xfrm>
            <a:off x="3348038" y="2743200"/>
            <a:ext cx="2834164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RESOLVED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6267450" y="1866900"/>
            <a:ext cx="283416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2627"/>
              </a:lnSpc>
              <a:buNone/>
            </a:pPr>
            <a:r>
              <a:rPr lang="en-US" sz="5850" kern="0" spc="-1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{{kpi_in_pipeline}}</a:t>
            </a:r>
            <a:endParaRPr lang="en-US" sz="5850" dirty="0"/>
          </a:p>
        </p:txBody>
      </p:sp>
      <p:sp>
        <p:nvSpPr>
          <p:cNvPr id="9" name="Text 6"/>
          <p:cNvSpPr/>
          <p:nvPr/>
        </p:nvSpPr>
        <p:spPr>
          <a:xfrm>
            <a:off x="6267450" y="2743200"/>
            <a:ext cx="2834164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IN PIPELINE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9186863" y="1866900"/>
            <a:ext cx="283416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627"/>
              </a:lnSpc>
              <a:buNone/>
            </a:pPr>
            <a:r>
              <a:rPr lang="en-US" sz="5850" kern="0" spc="-1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{{kpi_feedbacks}}</a:t>
            </a:r>
            <a:endParaRPr lang="en-US" sz="5850" dirty="0"/>
          </a:p>
        </p:txBody>
      </p:sp>
      <p:sp>
        <p:nvSpPr>
          <p:cNvPr id="11" name="Text 8"/>
          <p:cNvSpPr/>
          <p:nvPr/>
        </p:nvSpPr>
        <p:spPr>
          <a:xfrm>
            <a:off x="9186863" y="2743200"/>
            <a:ext cx="2834164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FEEDBACKS</a:t>
            </a:r>
            <a:endParaRPr lang="en-US" sz="975" dirty="0"/>
          </a:p>
        </p:txBody>
      </p:sp>
      <p:sp>
        <p:nvSpPr>
          <p:cNvPr id="12" name="Shape 9"/>
          <p:cNvSpPr/>
          <p:nvPr/>
        </p:nvSpPr>
        <p:spPr>
          <a:xfrm>
            <a:off x="428625" y="3543300"/>
            <a:ext cx="11334750" cy="952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28625" y="3905250"/>
            <a:ext cx="69151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FEEDBACK RATING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428625" y="4307681"/>
            <a:ext cx="11430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283"/>
              </a:lnSpc>
              <a:buNone/>
            </a:pPr>
            <a:r>
              <a:rPr lang="en-US" sz="112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Overall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1647825" y="4348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1647825" y="4348163"/>
            <a:ext cx="4443174" cy="133350"/>
          </a:xfrm>
          <a:prstGeom prst="roundRect">
            <a:avLst>
              <a:gd name="adj" fmla="val 14286"/>
            </a:avLst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257925" y="4300538"/>
            <a:ext cx="457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{{kpi_overall}}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28625" y="4688681"/>
            <a:ext cx="11430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283"/>
              </a:lnSpc>
              <a:buNone/>
            </a:pPr>
            <a:r>
              <a:rPr lang="en-US" sz="112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1647825" y="4729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1647825" y="4729163"/>
            <a:ext cx="4443174" cy="133350"/>
          </a:xfrm>
          <a:prstGeom prst="roundRect">
            <a:avLst>
              <a:gd name="adj" fmla="val 14286"/>
            </a:avLst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257925" y="4681538"/>
            <a:ext cx="457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{{kpi_quality}}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28625" y="5069681"/>
            <a:ext cx="11430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283"/>
              </a:lnSpc>
              <a:buNone/>
            </a:pPr>
            <a:r>
              <a:rPr lang="en-US" sz="112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Timeliness</a:t>
            </a:r>
            <a:endParaRPr lang="en-US" sz="1125" dirty="0"/>
          </a:p>
        </p:txBody>
      </p:sp>
      <p:sp>
        <p:nvSpPr>
          <p:cNvPr id="23" name="Shape 20"/>
          <p:cNvSpPr/>
          <p:nvPr/>
        </p:nvSpPr>
        <p:spPr>
          <a:xfrm>
            <a:off x="1647825" y="5110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1647825" y="5110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57925" y="5062538"/>
            <a:ext cx="457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{{kpi_timeliness}}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28625" y="5450681"/>
            <a:ext cx="114300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283"/>
              </a:lnSpc>
              <a:buNone/>
            </a:pPr>
            <a:r>
              <a:rPr lang="en-US" sz="112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Interaction</a:t>
            </a:r>
            <a:endParaRPr lang="en-US" sz="1125" dirty="0"/>
          </a:p>
        </p:txBody>
      </p:sp>
      <p:sp>
        <p:nvSpPr>
          <p:cNvPr id="27" name="Shape 24"/>
          <p:cNvSpPr/>
          <p:nvPr/>
        </p:nvSpPr>
        <p:spPr>
          <a:xfrm>
            <a:off x="1647825" y="5491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1647825" y="5491163"/>
            <a:ext cx="4533900" cy="133350"/>
          </a:xfrm>
          <a:prstGeom prst="roundRect">
            <a:avLst>
              <a:gd name="adj" fmla="val 14286"/>
            </a:avLst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257925" y="5443538"/>
            <a:ext cx="457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{{kpi_interaction}}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24750" y="3848100"/>
            <a:ext cx="4191000" cy="971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215"/>
              </a:lnSpc>
              <a:buNone/>
            </a:pPr>
            <a:r>
              <a:rPr lang="en-US" sz="7350" kern="0" spc="-220" dirty="0">
                <a:solidFill>
                  <a:srgbClr val="145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{{kpi_feedback_rating}}/ 5</a:t>
            </a:r>
            <a:endParaRPr lang="en-US" sz="7350" dirty="0"/>
          </a:p>
        </p:txBody>
      </p:sp>
      <p:sp>
        <p:nvSpPr>
          <p:cNvPr id="31" name="Text 28"/>
          <p:cNvSpPr/>
          <p:nvPr/>
        </p:nvSpPr>
        <p:spPr>
          <a:xfrm>
            <a:off x="7524750" y="4933950"/>
            <a:ext cx="41910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AVERAGE RATING</a:t>
            </a:r>
            <a:endParaRPr lang="en-US" sz="975" dirty="0"/>
          </a:p>
        </p:txBody>
      </p:sp>
      <p:sp>
        <p:nvSpPr>
          <p:cNvPr id="32" name="Text 29"/>
          <p:cNvSpPr/>
          <p:nvPr/>
        </p:nvSpPr>
        <p:spPr>
          <a:xfrm>
            <a:off x="7524750" y="5176838"/>
            <a:ext cx="41910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{{kpi_feedbacks}} feedbacks in {{deck_month_name}}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428625" y="6272213"/>
            <a:ext cx="1653219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34" name="Text 31"/>
          <p:cNvSpPr/>
          <p:nvPr/>
        </p:nvSpPr>
        <p:spPr>
          <a:xfrm>
            <a:off x="11631097" y="6272213"/>
            <a:ext cx="19895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03</a:t>
            </a:r>
            <a:endParaRPr lang="en-US" sz="8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3307223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Requests overview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428625" y="1428750"/>
            <a:ext cx="365704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reflecting data from {{period_from_fmt}} to {{period_to_fmt}}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428625" y="2057400"/>
            <a:ext cx="310134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661"/>
              </a:lnSpc>
              <a:buNone/>
            </a:pPr>
            <a:r>
              <a:rPr lang="en-US" sz="6150" kern="0" spc="-184" dirty="0">
                <a:solidFill>
                  <a:srgbClr val="145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{{inflow_total}}</a:t>
            </a:r>
            <a:endParaRPr lang="en-US" sz="6150" dirty="0"/>
          </a:p>
        </p:txBody>
      </p:sp>
      <p:sp>
        <p:nvSpPr>
          <p:cNvPr id="6" name="Text 3"/>
          <p:cNvSpPr/>
          <p:nvPr/>
        </p:nvSpPr>
        <p:spPr>
          <a:xfrm>
            <a:off x="428625" y="2952750"/>
            <a:ext cx="310134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TICKET INFLOW</a:t>
            </a:r>
            <a:endParaRPr lang="en-US" sz="975" dirty="0"/>
          </a:p>
        </p:txBody>
      </p:sp>
      <p:sp>
        <p:nvSpPr>
          <p:cNvPr id="7" name="Text 4"/>
          <p:cNvSpPr/>
          <p:nvPr/>
        </p:nvSpPr>
        <p:spPr>
          <a:xfrm>
            <a:off x="428625" y="3519488"/>
            <a:ext cx="310134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2661"/>
              </a:lnSpc>
              <a:buNone/>
            </a:pPr>
            <a:r>
              <a:rPr lang="en-US" sz="6150" kern="0" spc="-184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{{outflow_total}}</a:t>
            </a:r>
            <a:endParaRPr lang="en-US" sz="6150" dirty="0"/>
          </a:p>
        </p:txBody>
      </p:sp>
      <p:sp>
        <p:nvSpPr>
          <p:cNvPr id="8" name="Text 5"/>
          <p:cNvSpPr/>
          <p:nvPr/>
        </p:nvSpPr>
        <p:spPr>
          <a:xfrm>
            <a:off x="428625" y="4414838"/>
            <a:ext cx="310134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59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TICKET OUTFLOW</a:t>
            </a:r>
            <a:endParaRPr lang="en-US" sz="975" dirty="0"/>
          </a:p>
        </p:txBody>
      </p:sp>
      <p:sp>
        <p:nvSpPr>
          <p:cNvPr id="9" name="Text 6"/>
          <p:cNvSpPr/>
          <p:nvPr/>
        </p:nvSpPr>
        <p:spPr>
          <a:xfrm>
            <a:off x="3733800" y="2057400"/>
            <a:ext cx="345757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TICKET INFLOW BY AREA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733800" y="24384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43400" y="24431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343400" y="2443163"/>
            <a:ext cx="2190750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572250" y="24384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{{inflow_area_eu}}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733800" y="27813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343400" y="27860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343400" y="2786063"/>
            <a:ext cx="821531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572250" y="27813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{{inflow_area_apm}}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733800" y="31242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43400" y="31289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343400" y="3128963"/>
            <a:ext cx="410766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572250" y="31242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{{inflow_area_global}}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3733800" y="34671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AME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343400" y="34718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4343400" y="3471863"/>
            <a:ext cx="273844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572250" y="34671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{{inflow_area_ame}}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733800" y="3810000"/>
            <a:ext cx="5715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GCN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343400" y="3814763"/>
            <a:ext cx="2190750" cy="19050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4343400" y="3814763"/>
            <a:ext cx="45958" cy="19050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572250" y="3810000"/>
            <a:ext cx="30480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{{inflow_area_gcn}}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448550" y="2068830"/>
            <a:ext cx="77902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BY WORK TYPE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10558224" y="2095500"/>
            <a:ext cx="95250" cy="9525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10710624" y="2065020"/>
            <a:ext cx="404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Inflow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11191280" y="2095500"/>
            <a:ext cx="95250" cy="95250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11343680" y="2065020"/>
            <a:ext cx="495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Outflow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7448550" y="2430780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 content management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7448550" y="2676049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7448550" y="2676049"/>
            <a:ext cx="3497580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1496675" y="2649855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{{wt_wcm_inflow}}</a:t>
            </a:r>
            <a:endParaRPr lang="en-US" sz="825" dirty="0"/>
          </a:p>
        </p:txBody>
      </p:sp>
      <p:sp>
        <p:nvSpPr>
          <p:cNvPr id="39" name="Shape 36"/>
          <p:cNvSpPr/>
          <p:nvPr/>
        </p:nvSpPr>
        <p:spPr>
          <a:xfrm>
            <a:off x="7448550" y="2871311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7448550" y="2871311"/>
            <a:ext cx="4048125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11496675" y="2845118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{{wt_wcm_outflow}}</a:t>
            </a:r>
            <a:endParaRPr lang="en-US" sz="825" dirty="0"/>
          </a:p>
        </p:txBody>
      </p:sp>
      <p:sp>
        <p:nvSpPr>
          <p:cNvPr id="42" name="Text 39"/>
          <p:cNvSpPr/>
          <p:nvPr/>
        </p:nvSpPr>
        <p:spPr>
          <a:xfrm>
            <a:off x="7448550" y="3126105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production — graphic design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7448550" y="3371374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7448550" y="3371374"/>
            <a:ext cx="676037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11496675" y="3345180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{{wt_cpgd_inflow}}</a:t>
            </a:r>
            <a:endParaRPr lang="en-US" sz="825" dirty="0"/>
          </a:p>
        </p:txBody>
      </p:sp>
      <p:sp>
        <p:nvSpPr>
          <p:cNvPr id="46" name="Shape 43"/>
          <p:cNvSpPr/>
          <p:nvPr/>
        </p:nvSpPr>
        <p:spPr>
          <a:xfrm>
            <a:off x="7448550" y="3566636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7448550" y="3566636"/>
            <a:ext cx="918924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5"/>
          <p:cNvSpPr/>
          <p:nvPr/>
        </p:nvSpPr>
        <p:spPr>
          <a:xfrm>
            <a:off x="11496675" y="3540443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{{wt_cpgd_outflow}}</a:t>
            </a:r>
            <a:endParaRPr lang="en-US" sz="825" dirty="0"/>
          </a:p>
        </p:txBody>
      </p:sp>
      <p:sp>
        <p:nvSpPr>
          <p:cNvPr id="49" name="Text 46"/>
          <p:cNvSpPr/>
          <p:nvPr/>
        </p:nvSpPr>
        <p:spPr>
          <a:xfrm>
            <a:off x="7448550" y="3821430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 — local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7448550" y="4066699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8"/>
          <p:cNvSpPr/>
          <p:nvPr/>
        </p:nvSpPr>
        <p:spPr>
          <a:xfrm>
            <a:off x="7448550" y="4066699"/>
            <a:ext cx="489823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9"/>
          <p:cNvSpPr/>
          <p:nvPr/>
        </p:nvSpPr>
        <p:spPr>
          <a:xfrm>
            <a:off x="11496675" y="4040505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{{wt_email_inflow}}</a:t>
            </a:r>
            <a:endParaRPr lang="en-US" sz="825" dirty="0"/>
          </a:p>
        </p:txBody>
      </p:sp>
      <p:sp>
        <p:nvSpPr>
          <p:cNvPr id="53" name="Shape 50"/>
          <p:cNvSpPr/>
          <p:nvPr/>
        </p:nvSpPr>
        <p:spPr>
          <a:xfrm>
            <a:off x="7448550" y="4261961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1"/>
          <p:cNvSpPr/>
          <p:nvPr/>
        </p:nvSpPr>
        <p:spPr>
          <a:xfrm>
            <a:off x="7448550" y="4261961"/>
            <a:ext cx="246936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/>
          <p:nvPr/>
        </p:nvSpPr>
        <p:spPr>
          <a:xfrm>
            <a:off x="11496675" y="4235768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{{wt_email_outflow}}</a:t>
            </a:r>
            <a:endParaRPr lang="en-US" sz="825" dirty="0"/>
          </a:p>
        </p:txBody>
      </p:sp>
      <p:sp>
        <p:nvSpPr>
          <p:cNvPr id="56" name="Text 53"/>
          <p:cNvSpPr/>
          <p:nvPr/>
        </p:nvSpPr>
        <p:spPr>
          <a:xfrm>
            <a:off x="7448550" y="4516755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Demand creation — global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7448550" y="4762024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5"/>
          <p:cNvSpPr/>
          <p:nvPr/>
        </p:nvSpPr>
        <p:spPr>
          <a:xfrm>
            <a:off x="7448550" y="4762024"/>
            <a:ext cx="121444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/>
          <p:nvPr/>
        </p:nvSpPr>
        <p:spPr>
          <a:xfrm>
            <a:off x="11496675" y="4735830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{{wt_dcg_inflow}}</a:t>
            </a:r>
            <a:endParaRPr lang="en-US" sz="825" dirty="0"/>
          </a:p>
        </p:txBody>
      </p:sp>
      <p:sp>
        <p:nvSpPr>
          <p:cNvPr id="60" name="Shape 57"/>
          <p:cNvSpPr/>
          <p:nvPr/>
        </p:nvSpPr>
        <p:spPr>
          <a:xfrm>
            <a:off x="7448550" y="4957286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7448550" y="4957286"/>
            <a:ext cx="489823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59"/>
          <p:cNvSpPr/>
          <p:nvPr/>
        </p:nvSpPr>
        <p:spPr>
          <a:xfrm>
            <a:off x="11496675" y="4931093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{{wt_dcg_outflow}}</a:t>
            </a:r>
            <a:endParaRPr lang="en-US" sz="825" dirty="0"/>
          </a:p>
        </p:txBody>
      </p:sp>
      <p:sp>
        <p:nvSpPr>
          <p:cNvPr id="63" name="Text 60"/>
          <p:cNvSpPr/>
          <p:nvPr/>
        </p:nvSpPr>
        <p:spPr>
          <a:xfrm>
            <a:off x="7448550" y="5212080"/>
            <a:ext cx="4746308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421"/>
              </a:lnSpc>
              <a:buNone/>
            </a:pPr>
            <a:r>
              <a:rPr lang="en-US" sz="9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Retention — activations</a:t>
            </a:r>
            <a:endParaRPr lang="en-US" sz="900" dirty="0"/>
          </a:p>
        </p:txBody>
      </p:sp>
      <p:sp>
        <p:nvSpPr>
          <p:cNvPr id="64" name="Shape 61"/>
          <p:cNvSpPr/>
          <p:nvPr/>
        </p:nvSpPr>
        <p:spPr>
          <a:xfrm>
            <a:off x="7448550" y="5457349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2"/>
          <p:cNvSpPr/>
          <p:nvPr/>
        </p:nvSpPr>
        <p:spPr>
          <a:xfrm>
            <a:off x="7448550" y="5457349"/>
            <a:ext cx="121444" cy="1047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3"/>
          <p:cNvSpPr/>
          <p:nvPr/>
        </p:nvSpPr>
        <p:spPr>
          <a:xfrm>
            <a:off x="11496675" y="5431155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{{wt_ra_inflow}}</a:t>
            </a:r>
            <a:endParaRPr lang="en-US" sz="825" dirty="0"/>
          </a:p>
        </p:txBody>
      </p:sp>
      <p:sp>
        <p:nvSpPr>
          <p:cNvPr id="67" name="Shape 64"/>
          <p:cNvSpPr/>
          <p:nvPr/>
        </p:nvSpPr>
        <p:spPr>
          <a:xfrm>
            <a:off x="7448550" y="5652611"/>
            <a:ext cx="4048125" cy="1047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5"/>
          <p:cNvSpPr/>
          <p:nvPr/>
        </p:nvSpPr>
        <p:spPr>
          <a:xfrm>
            <a:off x="7448550" y="5652611"/>
            <a:ext cx="121444" cy="104775"/>
          </a:xfrm>
          <a:prstGeom prst="rect">
            <a:avLst/>
          </a:prstGeom>
          <a:solidFill>
            <a:srgbClr val="A1B9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Text 66"/>
          <p:cNvSpPr/>
          <p:nvPr/>
        </p:nvSpPr>
        <p:spPr>
          <a:xfrm>
            <a:off x="11496675" y="5626418"/>
            <a:ext cx="26670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8906"/>
              </a:lnSpc>
              <a:buNone/>
            </a:pPr>
            <a:r>
              <a:rPr lang="en-US" sz="825" b="1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{{wt_ra_outflow}}</a:t>
            </a:r>
            <a:endParaRPr lang="en-US" sz="825" dirty="0"/>
          </a:p>
        </p:txBody>
      </p:sp>
      <p:sp>
        <p:nvSpPr>
          <p:cNvPr id="70" name="Text 67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71" name="Text 68"/>
          <p:cNvSpPr/>
          <p:nvPr/>
        </p:nvSpPr>
        <p:spPr>
          <a:xfrm>
            <a:off x="11629430" y="6272213"/>
            <a:ext cx="200620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04</a:t>
            </a:r>
            <a:endParaRPr lang="en-US" sz="8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1183124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Stories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428625" y="1866900"/>
            <a:ext cx="37928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333"/>
              </a:lnSpc>
              <a:buNone/>
            </a:pPr>
            <a:r>
              <a:rPr lang="en-US" sz="2550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01</a:t>
            </a:r>
            <a:endParaRPr lang="en-US" sz="2550" dirty="0"/>
          </a:p>
        </p:txBody>
      </p:sp>
      <p:sp>
        <p:nvSpPr>
          <p:cNvPr id="5" name="Shape 2"/>
          <p:cNvSpPr/>
          <p:nvPr/>
        </p:nvSpPr>
        <p:spPr>
          <a:xfrm>
            <a:off x="428625" y="2362200"/>
            <a:ext cx="381000" cy="285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28625" y="2581275"/>
            <a:ext cx="3551492" cy="490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71"/>
              </a:lnSpc>
              <a:buNone/>
            </a:pPr>
            <a:r>
              <a:rPr lang="en-US" sz="1425" dirty="0">
                <a:solidFill>
                  <a:srgbClr val="141414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itchFamily="34" charset="-120"/>
              </a:rPr>
              <a:t>[Story 1 title]</a:t>
            </a:r>
            <a:endParaRPr lang="en-US" sz="1425" dirty="0">
              <a:latin typeface="Inter SemiBold" panose="02000503000000020004" pitchFamily="2" charset="0"/>
              <a:ea typeface="Inter SemiBold" panose="02000503000000020004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428625" y="3148013"/>
            <a:ext cx="3551492" cy="1108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7699"/>
              </a:lnSpc>
              <a:buNone/>
            </a:pPr>
            <a:r>
              <a:rPr lang="en-US" sz="1088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[2-3 sentences on what was delivered and why it mattered]</a:t>
            </a:r>
            <a:endParaRPr lang="en-US" sz="1088" dirty="0"/>
          </a:p>
        </p:txBody>
      </p:sp>
      <p:sp>
        <p:nvSpPr>
          <p:cNvPr id="8" name="Text 5"/>
          <p:cNvSpPr/>
          <p:nvPr/>
        </p:nvSpPr>
        <p:spPr>
          <a:xfrm>
            <a:off x="4371975" y="1866900"/>
            <a:ext cx="37928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333"/>
              </a:lnSpc>
              <a:buNone/>
            </a:pPr>
            <a:r>
              <a:rPr lang="en-US" sz="2550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02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4371975" y="2362200"/>
            <a:ext cx="381000" cy="285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371975" y="2581275"/>
            <a:ext cx="3792855" cy="2643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71"/>
              </a:lnSpc>
              <a:buNone/>
            </a:pPr>
            <a:r>
              <a:rPr lang="en-US" sz="1425" b="1" dirty="0">
                <a:solidFill>
                  <a:srgbClr val="141414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itchFamily="34" charset="-120"/>
              </a:rPr>
              <a:t>[Story 2 title]</a:t>
            </a:r>
            <a:endParaRPr lang="en-US" sz="1425" dirty="0">
              <a:latin typeface="Inter SemiBold" panose="02000503000000020004" pitchFamily="2" charset="0"/>
              <a:ea typeface="Inter SemiBold" panose="02000503000000020004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371975" y="2921794"/>
            <a:ext cx="3551492" cy="153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7699"/>
              </a:lnSpc>
              <a:buNone/>
            </a:pPr>
            <a:r>
              <a:rPr lang="en-US" sz="1088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[2-3 sentences on what was delivered and why it mattered]</a:t>
            </a:r>
            <a:endParaRPr lang="en-US" sz="1088" dirty="0"/>
          </a:p>
        </p:txBody>
      </p:sp>
      <p:sp>
        <p:nvSpPr>
          <p:cNvPr id="12" name="Text 9"/>
          <p:cNvSpPr/>
          <p:nvPr/>
        </p:nvSpPr>
        <p:spPr>
          <a:xfrm>
            <a:off x="8315325" y="1866900"/>
            <a:ext cx="3792855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333"/>
              </a:lnSpc>
              <a:buNone/>
            </a:pPr>
            <a:r>
              <a:rPr lang="en-US" sz="2550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03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8315325" y="2362200"/>
            <a:ext cx="381000" cy="285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315325" y="2581275"/>
            <a:ext cx="3792855" cy="2643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371"/>
              </a:lnSpc>
              <a:buNone/>
            </a:pPr>
            <a:r>
              <a:rPr lang="en-US" sz="1425" b="1" dirty="0">
                <a:solidFill>
                  <a:srgbClr val="141414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" pitchFamily="34" charset="-120"/>
              </a:rPr>
              <a:t>[Story 3 title]</a:t>
            </a:r>
            <a:endParaRPr lang="en-US" sz="1425" dirty="0">
              <a:latin typeface="Inter SemiBold" panose="02000503000000020004" pitchFamily="2" charset="0"/>
              <a:ea typeface="Inter SemiBold" panose="02000503000000020004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315325" y="2921794"/>
            <a:ext cx="3551492" cy="4662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7699"/>
              </a:lnSpc>
              <a:buNone/>
            </a:pPr>
            <a:r>
              <a:rPr lang="en-US" sz="1088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[2-3 sentences on what was delivered and why it mattered]</a:t>
            </a:r>
            <a:endParaRPr lang="en-US" sz="1088" dirty="0"/>
          </a:p>
        </p:txBody>
      </p:sp>
      <p:sp>
        <p:nvSpPr>
          <p:cNvPr id="16" name="Text 13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17" name="Text 14"/>
          <p:cNvSpPr/>
          <p:nvPr/>
        </p:nvSpPr>
        <p:spPr>
          <a:xfrm>
            <a:off x="11631097" y="6272213"/>
            <a:ext cx="19895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05</a:t>
            </a:r>
            <a:endParaRPr lang="en-US" sz="8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50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952500"/>
            <a:ext cx="31432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78" dirty="0">
                <a:solidFill>
                  <a:srgbClr val="FFFFFF">
                    <a:alpha val="75000"/>
                  </a:srgbClr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STORIES · IN THEIR WORDS</a:t>
            </a:r>
            <a:endParaRPr lang="en-US" sz="975" dirty="0"/>
          </a:p>
        </p:txBody>
      </p:sp>
      <p:sp>
        <p:nvSpPr>
          <p:cNvPr id="4" name="Text 1"/>
          <p:cNvSpPr/>
          <p:nvPr/>
        </p:nvSpPr>
        <p:spPr>
          <a:xfrm>
            <a:off x="428625" y="1366838"/>
            <a:ext cx="3143250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57819"/>
              </a:lnSpc>
              <a:buNone/>
            </a:pPr>
            <a:r>
              <a:rPr lang="en-US" sz="11250" dirty="0">
                <a:solidFill>
                  <a:srgbClr val="FFFFFF">
                    <a:alpha val="28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</a:t>
            </a:r>
            <a:endParaRPr lang="en-US" sz="11250" dirty="0"/>
          </a:p>
        </p:txBody>
      </p:sp>
      <p:sp>
        <p:nvSpPr>
          <p:cNvPr id="5" name="Text 2"/>
          <p:cNvSpPr/>
          <p:nvPr/>
        </p:nvSpPr>
        <p:spPr>
          <a:xfrm>
            <a:off x="3810000" y="990600"/>
            <a:ext cx="8191976" cy="8048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650"/>
              </a:lnSpc>
              <a:buNone/>
            </a:pPr>
            <a:r>
              <a:rPr lang="en-US" sz="2475" kern="0" spc="-25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[Quote — paragraph 1]</a:t>
            </a:r>
            <a:endParaRPr lang="en-US" sz="2475" dirty="0"/>
          </a:p>
        </p:txBody>
      </p:sp>
      <p:sp>
        <p:nvSpPr>
          <p:cNvPr id="6" name="Text 3"/>
          <p:cNvSpPr/>
          <p:nvPr/>
        </p:nvSpPr>
        <p:spPr>
          <a:xfrm>
            <a:off x="3810000" y="2005013"/>
            <a:ext cx="8191976" cy="778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[Quote — paragraph 2]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810000" y="2888337"/>
            <a:ext cx="8191976" cy="778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[Quote — paragraph 3]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810000" y="3771662"/>
            <a:ext cx="8191976" cy="778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[Quote — paragraph 4]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810000" y="6257925"/>
            <a:ext cx="273187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FFFFFF">
                    <a:alpha val="80000"/>
                  </a:srgbClr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FEEDBACK FROM A KONE MARKETING STAKEHOLDER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629787" y="6272213"/>
            <a:ext cx="20026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FFFFFF">
                    <a:alpha val="70000"/>
                  </a:srgbClr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06</a:t>
            </a:r>
            <a:endParaRPr lang="en-US" sz="8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2271391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requests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428625" y="2014538"/>
            <a:ext cx="2686050" cy="1524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28625" y="1714500"/>
            <a:ext cx="2766632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EUROPE</a:t>
            </a:r>
            <a:endParaRPr lang="en-US" sz="975" dirty="0"/>
          </a:p>
        </p:txBody>
      </p:sp>
      <p:sp>
        <p:nvSpPr>
          <p:cNvPr id="6" name="Shape 3"/>
          <p:cNvSpPr/>
          <p:nvPr/>
        </p:nvSpPr>
        <p:spPr>
          <a:xfrm>
            <a:off x="428625" y="22488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90550" y="2189798"/>
            <a:ext cx="2249805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{{key_request_europe_1}}</a:t>
            </a:r>
            <a:endParaRPr lang="en-US" sz="1013" dirty="0"/>
          </a:p>
        </p:txBody>
      </p:sp>
      <p:sp>
        <p:nvSpPr>
          <p:cNvPr id="8" name="Shape 5"/>
          <p:cNvSpPr/>
          <p:nvPr/>
        </p:nvSpPr>
        <p:spPr>
          <a:xfrm>
            <a:off x="428625" y="271867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0550" y="2659618"/>
            <a:ext cx="2292430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{{key_request_europe_2}}</a:t>
            </a:r>
            <a:endParaRPr lang="en-US" sz="1013" dirty="0"/>
          </a:p>
        </p:txBody>
      </p:sp>
      <p:sp>
        <p:nvSpPr>
          <p:cNvPr id="10" name="Shape 7"/>
          <p:cNvSpPr/>
          <p:nvPr/>
        </p:nvSpPr>
        <p:spPr>
          <a:xfrm>
            <a:off x="428625" y="3188494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90550" y="3129439"/>
            <a:ext cx="2302669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{{key_request_europe_3}}</a:t>
            </a:r>
            <a:endParaRPr lang="en-US" sz="1013" dirty="0"/>
          </a:p>
        </p:txBody>
      </p:sp>
      <p:sp>
        <p:nvSpPr>
          <p:cNvPr id="12" name="Shape 9"/>
          <p:cNvSpPr/>
          <p:nvPr/>
        </p:nvSpPr>
        <p:spPr>
          <a:xfrm>
            <a:off x="428625" y="3658314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90550" y="3599259"/>
            <a:ext cx="24007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{{key_request_europe_4}}</a:t>
            </a:r>
            <a:endParaRPr lang="en-US" sz="1013" dirty="0"/>
          </a:p>
        </p:txBody>
      </p:sp>
      <p:sp>
        <p:nvSpPr>
          <p:cNvPr id="14" name="Shape 11"/>
          <p:cNvSpPr/>
          <p:nvPr/>
        </p:nvSpPr>
        <p:spPr>
          <a:xfrm>
            <a:off x="428625" y="3945612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90550" y="3886557"/>
            <a:ext cx="2468047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{{key_request_europe_5}}</a:t>
            </a:r>
            <a:endParaRPr lang="en-US" sz="1013" dirty="0"/>
          </a:p>
        </p:txBody>
      </p:sp>
      <p:sp>
        <p:nvSpPr>
          <p:cNvPr id="16" name="Shape 13"/>
          <p:cNvSpPr/>
          <p:nvPr/>
        </p:nvSpPr>
        <p:spPr>
          <a:xfrm>
            <a:off x="428625" y="441543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90550" y="4356378"/>
            <a:ext cx="2451021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{{key_request_europe_6}}</a:t>
            </a:r>
            <a:endParaRPr lang="en-US" sz="1013" dirty="0"/>
          </a:p>
        </p:txBody>
      </p:sp>
      <p:sp>
        <p:nvSpPr>
          <p:cNvPr id="18" name="Shape 15"/>
          <p:cNvSpPr/>
          <p:nvPr/>
        </p:nvSpPr>
        <p:spPr>
          <a:xfrm>
            <a:off x="3362325" y="2014538"/>
            <a:ext cx="2686050" cy="1524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362325" y="1714500"/>
            <a:ext cx="2766632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APM</a:t>
            </a:r>
            <a:endParaRPr lang="en-US" sz="975" dirty="0"/>
          </a:p>
        </p:txBody>
      </p:sp>
      <p:sp>
        <p:nvSpPr>
          <p:cNvPr id="20" name="Shape 17"/>
          <p:cNvSpPr/>
          <p:nvPr/>
        </p:nvSpPr>
        <p:spPr>
          <a:xfrm>
            <a:off x="3362325" y="22488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524250" y="2189798"/>
            <a:ext cx="191762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{{key_request_apm_1}}</a:t>
            </a:r>
            <a:endParaRPr lang="en-US" sz="1013" dirty="0"/>
          </a:p>
        </p:txBody>
      </p:sp>
      <p:sp>
        <p:nvSpPr>
          <p:cNvPr id="22" name="Shape 19"/>
          <p:cNvSpPr/>
          <p:nvPr/>
        </p:nvSpPr>
        <p:spPr>
          <a:xfrm>
            <a:off x="3362325" y="2536150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3524250" y="2477095"/>
            <a:ext cx="25611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{{key_request_apm_2}}</a:t>
            </a:r>
            <a:endParaRPr lang="en-US" sz="1013" dirty="0"/>
          </a:p>
        </p:txBody>
      </p:sp>
      <p:sp>
        <p:nvSpPr>
          <p:cNvPr id="24" name="Shape 21"/>
          <p:cNvSpPr/>
          <p:nvPr/>
        </p:nvSpPr>
        <p:spPr>
          <a:xfrm>
            <a:off x="3362325" y="2823448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3524250" y="2764393"/>
            <a:ext cx="173235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{{key_request_apm_3}}</a:t>
            </a:r>
            <a:endParaRPr lang="en-US" sz="1013" dirty="0"/>
          </a:p>
        </p:txBody>
      </p:sp>
      <p:sp>
        <p:nvSpPr>
          <p:cNvPr id="26" name="Shape 23"/>
          <p:cNvSpPr/>
          <p:nvPr/>
        </p:nvSpPr>
        <p:spPr>
          <a:xfrm>
            <a:off x="3362325" y="3110746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3524250" y="3051691"/>
            <a:ext cx="2438281" cy="373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{{key_request_apm_4}}</a:t>
            </a:r>
            <a:endParaRPr lang="en-US" sz="1013" dirty="0"/>
          </a:p>
        </p:txBody>
      </p:sp>
      <p:sp>
        <p:nvSpPr>
          <p:cNvPr id="28" name="Shape 25"/>
          <p:cNvSpPr/>
          <p:nvPr/>
        </p:nvSpPr>
        <p:spPr>
          <a:xfrm>
            <a:off x="3362325" y="3580567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3524250" y="3521512"/>
            <a:ext cx="23668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{{key_request_apm_5}}</a:t>
            </a:r>
            <a:endParaRPr lang="en-US" sz="1013" dirty="0"/>
          </a:p>
        </p:txBody>
      </p:sp>
      <p:sp>
        <p:nvSpPr>
          <p:cNvPr id="30" name="Shape 27"/>
          <p:cNvSpPr/>
          <p:nvPr/>
        </p:nvSpPr>
        <p:spPr>
          <a:xfrm>
            <a:off x="6296025" y="2014538"/>
            <a:ext cx="2686050" cy="1524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296025" y="1714500"/>
            <a:ext cx="2766632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AME</a:t>
            </a:r>
            <a:endParaRPr lang="en-US" sz="975" dirty="0"/>
          </a:p>
        </p:txBody>
      </p:sp>
      <p:sp>
        <p:nvSpPr>
          <p:cNvPr id="32" name="Shape 29"/>
          <p:cNvSpPr/>
          <p:nvPr/>
        </p:nvSpPr>
        <p:spPr>
          <a:xfrm>
            <a:off x="6296025" y="22488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6457950" y="2189798"/>
            <a:ext cx="17264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{{key_request_ame_1}}</a:t>
            </a:r>
            <a:endParaRPr lang="en-US" sz="1013" dirty="0"/>
          </a:p>
        </p:txBody>
      </p:sp>
      <p:sp>
        <p:nvSpPr>
          <p:cNvPr id="34" name="Shape 31"/>
          <p:cNvSpPr/>
          <p:nvPr/>
        </p:nvSpPr>
        <p:spPr>
          <a:xfrm>
            <a:off x="6296025" y="2536150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6457950" y="2477095"/>
            <a:ext cx="2228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{{key_request_ame_2}}</a:t>
            </a:r>
            <a:endParaRPr lang="en-US" sz="1013" dirty="0"/>
          </a:p>
        </p:txBody>
      </p:sp>
      <p:sp>
        <p:nvSpPr>
          <p:cNvPr id="36" name="Shape 33"/>
          <p:cNvSpPr/>
          <p:nvPr/>
        </p:nvSpPr>
        <p:spPr>
          <a:xfrm>
            <a:off x="6296025" y="2823448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457950" y="2764393"/>
            <a:ext cx="23916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{{key_request_ame_3}}</a:t>
            </a:r>
            <a:endParaRPr lang="en-US" sz="1013" dirty="0"/>
          </a:p>
        </p:txBody>
      </p:sp>
      <p:sp>
        <p:nvSpPr>
          <p:cNvPr id="38" name="Shape 35"/>
          <p:cNvSpPr/>
          <p:nvPr/>
        </p:nvSpPr>
        <p:spPr>
          <a:xfrm>
            <a:off x="6296025" y="3110746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457950" y="3051691"/>
            <a:ext cx="24336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{{key_request_ame_4}}</a:t>
            </a:r>
            <a:endParaRPr lang="en-US" sz="1013" dirty="0"/>
          </a:p>
        </p:txBody>
      </p:sp>
      <p:sp>
        <p:nvSpPr>
          <p:cNvPr id="40" name="Shape 37"/>
          <p:cNvSpPr/>
          <p:nvPr/>
        </p:nvSpPr>
        <p:spPr>
          <a:xfrm>
            <a:off x="6296025" y="3398044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6457950" y="3338989"/>
            <a:ext cx="24144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{{key_request_ame_5}}</a:t>
            </a:r>
            <a:endParaRPr lang="en-US" sz="1013" dirty="0"/>
          </a:p>
        </p:txBody>
      </p:sp>
      <p:sp>
        <p:nvSpPr>
          <p:cNvPr id="42" name="Shape 39"/>
          <p:cNvSpPr/>
          <p:nvPr/>
        </p:nvSpPr>
        <p:spPr>
          <a:xfrm>
            <a:off x="9229725" y="2014538"/>
            <a:ext cx="2533650" cy="15240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9229725" y="1714500"/>
            <a:ext cx="26098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GLOBAL</a:t>
            </a:r>
            <a:endParaRPr lang="en-US" sz="975" dirty="0"/>
          </a:p>
        </p:txBody>
      </p:sp>
      <p:sp>
        <p:nvSpPr>
          <p:cNvPr id="44" name="Shape 41"/>
          <p:cNvSpPr/>
          <p:nvPr/>
        </p:nvSpPr>
        <p:spPr>
          <a:xfrm>
            <a:off x="9229725" y="2248853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9391650" y="2189798"/>
            <a:ext cx="23187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{{key_request_global_1}}</a:t>
            </a:r>
            <a:endParaRPr lang="en-US" sz="1013" dirty="0"/>
          </a:p>
        </p:txBody>
      </p:sp>
      <p:sp>
        <p:nvSpPr>
          <p:cNvPr id="46" name="Shape 43"/>
          <p:cNvSpPr/>
          <p:nvPr/>
        </p:nvSpPr>
        <p:spPr>
          <a:xfrm>
            <a:off x="9229725" y="2536150"/>
            <a:ext cx="47625" cy="476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4"/>
          <p:cNvSpPr/>
          <p:nvPr/>
        </p:nvSpPr>
        <p:spPr>
          <a:xfrm>
            <a:off x="9391650" y="2477095"/>
            <a:ext cx="2389227" cy="5555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81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{{key_request_global_2}}</a:t>
            </a:r>
            <a:endParaRPr lang="en-US" sz="1013" dirty="0"/>
          </a:p>
        </p:txBody>
      </p:sp>
      <p:sp>
        <p:nvSpPr>
          <p:cNvPr id="48" name="Text 45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49" name="Text 46"/>
          <p:cNvSpPr/>
          <p:nvPr/>
        </p:nvSpPr>
        <p:spPr>
          <a:xfrm>
            <a:off x="11638598" y="6272213"/>
            <a:ext cx="19145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07</a:t>
            </a:r>
            <a:endParaRPr lang="en-US" sz="8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3506558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highlights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428625" y="1771650"/>
            <a:ext cx="3486150" cy="1419225"/>
          </a:xfrm>
          <a:prstGeom prst="roundRect">
            <a:avLst>
              <a:gd name="adj" fmla="val 5369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19125" y="1943100"/>
            <a:ext cx="31983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{{quote_akshayaar}}</a:t>
            </a:r>
            <a:endParaRPr lang="en-US" sz="1013" dirty="0"/>
          </a:p>
        </p:txBody>
      </p:sp>
      <p:sp>
        <p:nvSpPr>
          <p:cNvPr id="6" name="Text 3"/>
          <p:cNvSpPr/>
          <p:nvPr/>
        </p:nvSpPr>
        <p:spPr>
          <a:xfrm>
            <a:off x="619125" y="2847975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AKSHAYAA R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067175" y="1771650"/>
            <a:ext cx="3486150" cy="1419225"/>
          </a:xfrm>
          <a:prstGeom prst="roundRect">
            <a:avLst>
              <a:gd name="adj" fmla="val 5369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257675" y="1943100"/>
            <a:ext cx="31983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{{quote_ajith}}</a:t>
            </a:r>
            <a:endParaRPr lang="en-US" sz="1013" dirty="0"/>
          </a:p>
        </p:txBody>
      </p:sp>
      <p:sp>
        <p:nvSpPr>
          <p:cNvPr id="9" name="Text 6"/>
          <p:cNvSpPr/>
          <p:nvPr/>
        </p:nvSpPr>
        <p:spPr>
          <a:xfrm>
            <a:off x="4257675" y="2847975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AJITH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28625" y="3343275"/>
            <a:ext cx="3486150" cy="1419225"/>
          </a:xfrm>
          <a:prstGeom prst="roundRect">
            <a:avLst>
              <a:gd name="adj" fmla="val 5369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19125" y="3514725"/>
            <a:ext cx="31983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{{quote_akshayap}}</a:t>
            </a:r>
            <a:endParaRPr lang="en-US" sz="1013" dirty="0"/>
          </a:p>
        </p:txBody>
      </p:sp>
      <p:sp>
        <p:nvSpPr>
          <p:cNvPr id="12" name="Text 9"/>
          <p:cNvSpPr/>
          <p:nvPr/>
        </p:nvSpPr>
        <p:spPr>
          <a:xfrm>
            <a:off x="619125" y="4419600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AKSHAYA P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067175" y="3343275"/>
            <a:ext cx="3486150" cy="1419225"/>
          </a:xfrm>
          <a:prstGeom prst="roundRect">
            <a:avLst>
              <a:gd name="adj" fmla="val 5369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257675" y="3514725"/>
            <a:ext cx="31983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{{quote_nitish}}</a:t>
            </a:r>
            <a:endParaRPr lang="en-US" sz="1013" dirty="0"/>
          </a:p>
        </p:txBody>
      </p:sp>
      <p:sp>
        <p:nvSpPr>
          <p:cNvPr id="15" name="Text 12"/>
          <p:cNvSpPr/>
          <p:nvPr/>
        </p:nvSpPr>
        <p:spPr>
          <a:xfrm>
            <a:off x="4257675" y="4419600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NITISH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28625" y="4914900"/>
            <a:ext cx="3486150" cy="1033462"/>
          </a:xfrm>
          <a:prstGeom prst="roundRect">
            <a:avLst>
              <a:gd name="adj" fmla="val 7373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19125" y="5086350"/>
            <a:ext cx="319830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{{quote_arvind}}</a:t>
            </a:r>
            <a:endParaRPr lang="en-US" sz="1013" dirty="0"/>
          </a:p>
        </p:txBody>
      </p:sp>
      <p:sp>
        <p:nvSpPr>
          <p:cNvPr id="18" name="Text 15"/>
          <p:cNvSpPr/>
          <p:nvPr/>
        </p:nvSpPr>
        <p:spPr>
          <a:xfrm>
            <a:off x="619125" y="5605463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ARVIND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067175" y="4914900"/>
            <a:ext cx="3486150" cy="1033462"/>
          </a:xfrm>
          <a:prstGeom prst="roundRect">
            <a:avLst>
              <a:gd name="adj" fmla="val 7373"/>
            </a:avLst>
          </a:prstGeom>
          <a:solidFill>
            <a:srgbClr val="F3EE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257675" y="5086350"/>
            <a:ext cx="3415665" cy="2309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563"/>
              </a:lnSpc>
              <a:buNone/>
            </a:pPr>
            <a:r>
              <a:rPr lang="en-US" sz="1013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{{quote_ranjith}}</a:t>
            </a:r>
            <a:endParaRPr lang="en-US" sz="1013" dirty="0"/>
          </a:p>
        </p:txBody>
      </p:sp>
      <p:sp>
        <p:nvSpPr>
          <p:cNvPr id="21" name="Text 18"/>
          <p:cNvSpPr/>
          <p:nvPr/>
        </p:nvSpPr>
        <p:spPr>
          <a:xfrm>
            <a:off x="4257675" y="5412581"/>
            <a:ext cx="34156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RANJITH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858125" y="1771650"/>
            <a:ext cx="429577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kern="0" spc="54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FEEDBACKS BY TEAM MEMBER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858125" y="2133600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Pooja</a:t>
            </a:r>
            <a:endParaRPr lang="en-US" sz="975" dirty="0"/>
          </a:p>
        </p:txBody>
      </p:sp>
      <p:sp>
        <p:nvSpPr>
          <p:cNvPr id="24" name="Shape 21"/>
          <p:cNvSpPr/>
          <p:nvPr/>
        </p:nvSpPr>
        <p:spPr>
          <a:xfrm>
            <a:off x="8810625" y="2155031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8810625" y="2155031"/>
            <a:ext cx="2628900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11477625" y="2133600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{{count_pooja}}</a:t>
            </a:r>
            <a:endParaRPr lang="en-US" sz="975" dirty="0"/>
          </a:p>
        </p:txBody>
      </p:sp>
      <p:sp>
        <p:nvSpPr>
          <p:cNvPr id="27" name="Text 24"/>
          <p:cNvSpPr/>
          <p:nvPr/>
        </p:nvSpPr>
        <p:spPr>
          <a:xfrm>
            <a:off x="7858125" y="2443163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Akshayaa R</a:t>
            </a:r>
            <a:endParaRPr lang="en-US" sz="975" dirty="0"/>
          </a:p>
        </p:txBody>
      </p:sp>
      <p:sp>
        <p:nvSpPr>
          <p:cNvPr id="28" name="Shape 25"/>
          <p:cNvSpPr/>
          <p:nvPr/>
        </p:nvSpPr>
        <p:spPr>
          <a:xfrm>
            <a:off x="8810625" y="2464594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8810625" y="2464594"/>
            <a:ext cx="2518410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11477625" y="2443163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{{count_akshayaar}}</a:t>
            </a:r>
            <a:endParaRPr lang="en-US" sz="975" dirty="0"/>
          </a:p>
        </p:txBody>
      </p:sp>
      <p:sp>
        <p:nvSpPr>
          <p:cNvPr id="31" name="Text 28"/>
          <p:cNvSpPr/>
          <p:nvPr/>
        </p:nvSpPr>
        <p:spPr>
          <a:xfrm>
            <a:off x="7858125" y="2752725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Arvind</a:t>
            </a:r>
            <a:endParaRPr lang="en-US" sz="975" dirty="0"/>
          </a:p>
        </p:txBody>
      </p:sp>
      <p:sp>
        <p:nvSpPr>
          <p:cNvPr id="32" name="Shape 29"/>
          <p:cNvSpPr/>
          <p:nvPr/>
        </p:nvSpPr>
        <p:spPr>
          <a:xfrm>
            <a:off x="8810625" y="2774156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8810625" y="2774156"/>
            <a:ext cx="1753434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11477625" y="2752725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{{count_arvind}}</a:t>
            </a:r>
            <a:endParaRPr lang="en-US" sz="975" dirty="0"/>
          </a:p>
        </p:txBody>
      </p:sp>
      <p:sp>
        <p:nvSpPr>
          <p:cNvPr id="35" name="Text 32"/>
          <p:cNvSpPr/>
          <p:nvPr/>
        </p:nvSpPr>
        <p:spPr>
          <a:xfrm>
            <a:off x="7858125" y="3062288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Ajith</a:t>
            </a:r>
            <a:endParaRPr lang="en-US" sz="975" dirty="0"/>
          </a:p>
        </p:txBody>
      </p:sp>
      <p:sp>
        <p:nvSpPr>
          <p:cNvPr id="36" name="Shape 33"/>
          <p:cNvSpPr/>
          <p:nvPr/>
        </p:nvSpPr>
        <p:spPr>
          <a:xfrm>
            <a:off x="8810625" y="3083719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8810625" y="3083719"/>
            <a:ext cx="1259205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1477625" y="3062288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{{count_ajith}}</a:t>
            </a:r>
            <a:endParaRPr lang="en-US" sz="975" dirty="0"/>
          </a:p>
        </p:txBody>
      </p:sp>
      <p:sp>
        <p:nvSpPr>
          <p:cNvPr id="39" name="Text 36"/>
          <p:cNvSpPr/>
          <p:nvPr/>
        </p:nvSpPr>
        <p:spPr>
          <a:xfrm>
            <a:off x="7858125" y="3371850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Akshaya P</a:t>
            </a:r>
            <a:endParaRPr lang="en-US" sz="975" dirty="0"/>
          </a:p>
        </p:txBody>
      </p:sp>
      <p:sp>
        <p:nvSpPr>
          <p:cNvPr id="40" name="Shape 37"/>
          <p:cNvSpPr/>
          <p:nvPr/>
        </p:nvSpPr>
        <p:spPr>
          <a:xfrm>
            <a:off x="8810625" y="3393281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8810625" y="3393281"/>
            <a:ext cx="1096208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11477625" y="3371850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{{count_akshayap}}</a:t>
            </a:r>
            <a:endParaRPr lang="en-US" sz="975" dirty="0"/>
          </a:p>
        </p:txBody>
      </p:sp>
      <p:sp>
        <p:nvSpPr>
          <p:cNvPr id="43" name="Text 40"/>
          <p:cNvSpPr/>
          <p:nvPr/>
        </p:nvSpPr>
        <p:spPr>
          <a:xfrm>
            <a:off x="7858125" y="3681413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Ranjith</a:t>
            </a:r>
            <a:endParaRPr lang="en-US" sz="975" dirty="0"/>
          </a:p>
        </p:txBody>
      </p:sp>
      <p:sp>
        <p:nvSpPr>
          <p:cNvPr id="44" name="Shape 41"/>
          <p:cNvSpPr/>
          <p:nvPr/>
        </p:nvSpPr>
        <p:spPr>
          <a:xfrm>
            <a:off x="8810625" y="3702844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8810625" y="3702844"/>
            <a:ext cx="328613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11477625" y="3681413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{{count_ranjith}}</a:t>
            </a:r>
            <a:endParaRPr lang="en-US" sz="975" dirty="0"/>
          </a:p>
        </p:txBody>
      </p:sp>
      <p:sp>
        <p:nvSpPr>
          <p:cNvPr id="47" name="Text 44"/>
          <p:cNvSpPr/>
          <p:nvPr/>
        </p:nvSpPr>
        <p:spPr>
          <a:xfrm>
            <a:off x="7858125" y="3990975"/>
            <a:ext cx="914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875"/>
              </a:lnSpc>
              <a:buNone/>
            </a:pPr>
            <a:r>
              <a:rPr lang="en-US" sz="975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Nitish</a:t>
            </a:r>
            <a:endParaRPr lang="en-US" sz="975" dirty="0"/>
          </a:p>
        </p:txBody>
      </p:sp>
      <p:sp>
        <p:nvSpPr>
          <p:cNvPr id="48" name="Shape 45"/>
          <p:cNvSpPr/>
          <p:nvPr/>
        </p:nvSpPr>
        <p:spPr>
          <a:xfrm>
            <a:off x="8810625" y="4012406"/>
            <a:ext cx="2628900" cy="1428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6"/>
          <p:cNvSpPr/>
          <p:nvPr/>
        </p:nvSpPr>
        <p:spPr>
          <a:xfrm>
            <a:off x="8810625" y="4012406"/>
            <a:ext cx="110371" cy="14287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/>
          <p:nvPr/>
        </p:nvSpPr>
        <p:spPr>
          <a:xfrm>
            <a:off x="11477625" y="3990975"/>
            <a:ext cx="28575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21875"/>
              </a:lnSpc>
              <a:buNone/>
            </a:pPr>
            <a:r>
              <a:rPr lang="en-US" sz="975" b="1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{{count_nitish}}</a:t>
            </a:r>
            <a:endParaRPr lang="en-US" sz="975" dirty="0"/>
          </a:p>
        </p:txBody>
      </p:sp>
      <p:sp>
        <p:nvSpPr>
          <p:cNvPr id="51" name="Text 48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52" name="Text 49"/>
          <p:cNvSpPr/>
          <p:nvPr/>
        </p:nvSpPr>
        <p:spPr>
          <a:xfrm>
            <a:off x="11630382" y="6272213"/>
            <a:ext cx="199668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08</a:t>
            </a:r>
            <a:endParaRPr lang="en-US" sz="8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779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838200"/>
            <a:ext cx="306586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78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PWR</a:t>
            </a:r>
            <a:endParaRPr lang="en-US" sz="975" dirty="0"/>
          </a:p>
        </p:txBody>
      </p:sp>
      <p:sp>
        <p:nvSpPr>
          <p:cNvPr id="4" name="Text 1"/>
          <p:cNvSpPr/>
          <p:nvPr/>
        </p:nvSpPr>
        <p:spPr>
          <a:xfrm>
            <a:off x="428625" y="1028700"/>
            <a:ext cx="4089106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727"/>
              </a:lnSpc>
              <a:buNone/>
            </a:pPr>
            <a:r>
              <a:rPr lang="en-US" sz="2700" kern="0" spc="-2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Updates &amp; way forward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428625" y="2357437"/>
            <a:ext cx="5334000" cy="952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28625" y="2038350"/>
            <a:ext cx="5494020" cy="223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UPDATES</a:t>
            </a:r>
            <a:endParaRPr lang="en-US" sz="975" dirty="0"/>
          </a:p>
        </p:txBody>
      </p:sp>
      <p:sp>
        <p:nvSpPr>
          <p:cNvPr id="7" name="Shape 4"/>
          <p:cNvSpPr/>
          <p:nvPr/>
        </p:nvSpPr>
        <p:spPr>
          <a:xfrm>
            <a:off x="428625" y="2612708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38175" y="2570797"/>
            <a:ext cx="1893808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[Update 1]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8625" y="2968943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38175" y="2927033"/>
            <a:ext cx="231636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[Update 2]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8625" y="3325178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38175" y="3283268"/>
            <a:ext cx="2767858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[Update 3]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8625" y="3681413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38175" y="3639503"/>
            <a:ext cx="2973516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[Update 4]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8625" y="4037647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175" y="3995738"/>
            <a:ext cx="2486263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[Update 5]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8625" y="4393883"/>
            <a:ext cx="85725" cy="85725"/>
          </a:xfrm>
          <a:prstGeom prst="rect">
            <a:avLst/>
          </a:prstGeom>
          <a:solidFill>
            <a:srgbClr val="1450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38175" y="4351972"/>
            <a:ext cx="1690568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[Update 6]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429375" y="2357437"/>
            <a:ext cx="5334000" cy="952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429375" y="2038350"/>
            <a:ext cx="5494020" cy="223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289"/>
              </a:lnSpc>
              <a:buNone/>
            </a:pPr>
            <a:r>
              <a:rPr lang="en-US" sz="975" kern="0" spc="68" dirty="0">
                <a:solidFill>
                  <a:srgbClr val="141414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WAY FORWARD</a:t>
            </a:r>
            <a:endParaRPr lang="en-US" sz="975" dirty="0"/>
          </a:p>
        </p:txBody>
      </p:sp>
      <p:sp>
        <p:nvSpPr>
          <p:cNvPr id="21" name="Shape 18"/>
          <p:cNvSpPr/>
          <p:nvPr/>
        </p:nvSpPr>
        <p:spPr>
          <a:xfrm>
            <a:off x="6429375" y="2603183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638925" y="2570797"/>
            <a:ext cx="2631243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[Way forward 1]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29375" y="2959418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638925" y="2927033"/>
            <a:ext cx="1605915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[Way forward 2]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429375" y="3315653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638925" y="3283268"/>
            <a:ext cx="1884998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[Way forward 3]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429375" y="3671888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638925" y="3639503"/>
            <a:ext cx="1045607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[Way forward 4]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429375" y="4028122"/>
            <a:ext cx="85725" cy="85725"/>
          </a:xfrm>
          <a:prstGeom prst="rect">
            <a:avLst/>
          </a:prstGeom>
          <a:ln w="15240">
            <a:solidFill>
              <a:srgbClr val="1450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638925" y="3995738"/>
            <a:ext cx="297609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200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[Way forward 5]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32" name="Text 29"/>
          <p:cNvSpPr/>
          <p:nvPr/>
        </p:nvSpPr>
        <p:spPr>
          <a:xfrm>
            <a:off x="11629787" y="6272213"/>
            <a:ext cx="200263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09</a:t>
            </a:r>
            <a:endParaRPr lang="en-US" sz="8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2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28625"/>
            <a:ext cx="763072" cy="2952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2338388"/>
            <a:ext cx="942975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kern="0" spc="95" dirty="0">
                <a:solidFill>
                  <a:srgbClr val="1450F5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OVER TO YOU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428625" y="2690813"/>
            <a:ext cx="9429750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4339"/>
              </a:lnSpc>
              <a:buNone/>
            </a:pPr>
            <a:r>
              <a:rPr lang="en-US" sz="11250" kern="0" spc="-337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Q&amp;A</a:t>
            </a:r>
            <a:endParaRPr lang="en-US" sz="11250" dirty="0"/>
          </a:p>
        </p:txBody>
      </p:sp>
      <p:sp>
        <p:nvSpPr>
          <p:cNvPr id="5" name="Text 2"/>
          <p:cNvSpPr/>
          <p:nvPr/>
        </p:nvSpPr>
        <p:spPr>
          <a:xfrm>
            <a:off x="428625" y="4205288"/>
            <a:ext cx="942975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16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 &amp; discussion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  <p:sp>
        <p:nvSpPr>
          <p:cNvPr id="7" name="Text 4"/>
          <p:cNvSpPr/>
          <p:nvPr/>
        </p:nvSpPr>
        <p:spPr>
          <a:xfrm>
            <a:off x="11648718" y="6272213"/>
            <a:ext cx="181332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10</a:t>
            </a:r>
            <a:endParaRPr lang="en-US" sz="8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428625"/>
            <a:ext cx="763072" cy="295275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rcRect r="61321"/>
          <a:stretch/>
        </p:blipFill>
        <p:spPr>
          <a:xfrm>
            <a:off x="3600450" y="381000"/>
            <a:ext cx="2495550" cy="2857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rcRect l="35199" r="35199"/>
          <a:stretch/>
        </p:blipFill>
        <p:spPr>
          <a:xfrm>
            <a:off x="6362700" y="381000"/>
            <a:ext cx="2495550" cy="3733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rcRect l="62824"/>
          <a:stretch/>
        </p:blipFill>
        <p:spPr>
          <a:xfrm>
            <a:off x="9124950" y="381000"/>
            <a:ext cx="2638425" cy="314325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428625" y="4486275"/>
            <a:ext cx="3269242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750"/>
              </a:lnSpc>
              <a:buNone/>
            </a:pPr>
            <a:r>
              <a:rPr lang="en-US" sz="4950" kern="0" spc="-124" dirty="0">
                <a:solidFill>
                  <a:srgbClr val="14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4950" dirty="0"/>
          </a:p>
        </p:txBody>
      </p:sp>
      <p:sp>
        <p:nvSpPr>
          <p:cNvPr id="7" name="Text 1"/>
          <p:cNvSpPr/>
          <p:nvPr/>
        </p:nvSpPr>
        <p:spPr>
          <a:xfrm>
            <a:off x="447675" y="5476875"/>
            <a:ext cx="403082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 dirty="0">
                <a:solidFill>
                  <a:srgbClr val="7272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Hub · Monthly sharing · {{deck_month_year}}</a:t>
            </a:r>
            <a:endParaRPr lang="en-US" sz="135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1814" y="6105525"/>
            <a:ext cx="1061561" cy="36195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428625" y="6272213"/>
            <a:ext cx="692944" cy="195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324"/>
              </a:lnSpc>
              <a:buNone/>
            </a:pPr>
            <a:r>
              <a:rPr lang="en-US" sz="825" kern="0" spc="50" dirty="0">
                <a:solidFill>
                  <a:srgbClr val="727272"/>
                </a:solidFill>
                <a:latin typeface="KONE Information" pitchFamily="34" charset="0"/>
                <a:ea typeface="KONE Information" pitchFamily="34" charset="-122"/>
                <a:cs typeface="KONE Information" pitchFamily="34" charset="-120"/>
              </a:rPr>
              <a:t>{{deck_generated_date}}</a:t>
            </a:r>
            <a:endParaRPr lang="en-US" sz="8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595ec8e-1e2e-428f-9506-de1cbd0c2835}" enabled="1" method="Standard" siteId="{2bb82c64-2eb1-43f7-8862-fdc1d2333b50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1027</Words>
  <Application>Microsoft Office PowerPoint</Application>
  <PresentationFormat>Widescreen</PresentationFormat>
  <Paragraphs>190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Arial</vt:lpstr>
      <vt:lpstr>Inter</vt:lpstr>
      <vt:lpstr>Inter SemiBold</vt:lpstr>
      <vt:lpstr>KONE Information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L. Arvind</cp:lastModifiedBy>
  <cp:revision>2</cp:revision>
  <dcterms:created xsi:type="dcterms:W3CDTF">2026-07-29T04:27:16Z</dcterms:created>
  <dcterms:modified xsi:type="dcterms:W3CDTF">2026-07-29T04:29:59Z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Theme:3</vt:lpwstr>
  </property>
  <property fmtid="{D5CDD505-2E9C-101B-9397-08002B2CF9AE}" pid="3" name="ClassificationContentMarkingHeaderText">
    <vt:lpwstr>KONE Internal</vt:lpwstr>
  </property>
</Properties>
</file>